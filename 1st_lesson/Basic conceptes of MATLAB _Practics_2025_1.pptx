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oboto"/>
      <p:regular r:id="rId38"/>
      <p:bold r:id="rId39"/>
      <p:italic r:id="rId40"/>
      <p:boldItalic r:id="rId41"/>
    </p:embeddedFont>
    <p:embeddedFont>
      <p:font typeface="Roboto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5.xml"/><Relationship Id="rId42" Type="http://schemas.openxmlformats.org/officeDocument/2006/relationships/font" Target="fonts/RobotoMono-regular.fntdata"/><Relationship Id="rId41" Type="http://schemas.openxmlformats.org/officeDocument/2006/relationships/font" Target="fonts/Roboto-boldItalic.fntdata"/><Relationship Id="rId22" Type="http://schemas.openxmlformats.org/officeDocument/2006/relationships/slide" Target="slides/slide17.xml"/><Relationship Id="rId44" Type="http://schemas.openxmlformats.org/officeDocument/2006/relationships/font" Target="fonts/RobotoMono-italic.fntdata"/><Relationship Id="rId21" Type="http://schemas.openxmlformats.org/officeDocument/2006/relationships/slide" Target="slides/slide16.xml"/><Relationship Id="rId43" Type="http://schemas.openxmlformats.org/officeDocument/2006/relationships/font" Target="fonts/RobotoMono-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bold.fntdata"/><Relationship Id="rId16" Type="http://schemas.openxmlformats.org/officeDocument/2006/relationships/slide" Target="slides/slide11.xml"/><Relationship Id="rId38" Type="http://schemas.openxmlformats.org/officeDocument/2006/relationships/font" Target="fonts/Robot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36f893e3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36f893e3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393cbd676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393cbd676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36f893e3d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36f893e3d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93cbd676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393cbd676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93cbd676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93cbd676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218725b6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218725b6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6f893e3d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6f893e3d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6f893e3d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6f893e3d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393cbd676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393cbd676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393cbd676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393cbd676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393cbd676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393cbd676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393cbd676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393cbd676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393cbd676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393cbd676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93cbd676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393cbd676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93cbd6760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93cbd676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93cbd6760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393cbd6760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393cbd6760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393cbd676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393cbd676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393cbd676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393cbd6760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393cbd6760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In 1994 Steve won in the charity auction in Mathworks - the right to choose the default image to MATLAB. Before 1997 MATLAB was very often criticized for handling only double-precized values.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393cbd676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393cbd676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4218725b6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4218725b6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3c0c9155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3c0c9155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3c0c91555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3c0c91555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3c0c91555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3c0c91555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3c0c91555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3c0c91555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3c0c91555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3c0c91555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3c0c91555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3c0c91555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3c0c91555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3c0c91555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3c9f18aa3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3c9f18aa3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e416be885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e416be885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e416be885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e416be885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3c0c91555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3c0c91555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hyperlink" Target="http://drive.google.com/file/d/1i5DyKuY5YMsfFA2arIUOtbA5PQrkb1XO/view" TargetMode="External"/><Relationship Id="rId5"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8.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 Id="rId10" Type="http://schemas.openxmlformats.org/officeDocument/2006/relationships/image" Target="../media/image19.png"/><Relationship Id="rId9"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7.png"/><Relationship Id="rId6"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20.png"/><Relationship Id="rId6" Type="http://schemas.openxmlformats.org/officeDocument/2006/relationships/image" Target="../media/image22.png"/><Relationship Id="rId7"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48.png"/><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49.png"/><Relationship Id="rId6" Type="http://schemas.openxmlformats.org/officeDocument/2006/relationships/image" Target="../media/image29.png"/><Relationship Id="rId7"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31.png"/><Relationship Id="rId6" Type="http://schemas.openxmlformats.org/officeDocument/2006/relationships/image" Target="../media/image39.png"/><Relationship Id="rId7"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4.png"/><Relationship Id="rId4" Type="http://schemas.openxmlformats.org/officeDocument/2006/relationships/image" Target="../media/image23.png"/><Relationship Id="rId5" Type="http://schemas.openxmlformats.org/officeDocument/2006/relationships/image" Target="../media/image30.png"/><Relationship Id="rId6" Type="http://schemas.openxmlformats.org/officeDocument/2006/relationships/image" Target="../media/image42.png"/><Relationship Id="rId7"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5.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41.png"/><Relationship Id="rId5" Type="http://schemas.openxmlformats.org/officeDocument/2006/relationships/image" Target="../media/image25.png"/><Relationship Id="rId6"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0.png"/><Relationship Id="rId4" Type="http://schemas.openxmlformats.org/officeDocument/2006/relationships/image" Target="../media/image46.png"/><Relationship Id="rId5" Type="http://schemas.openxmlformats.org/officeDocument/2006/relationships/image" Target="../media/image54.png"/><Relationship Id="rId6" Type="http://schemas.openxmlformats.org/officeDocument/2006/relationships/image" Target="../media/image70.png"/><Relationship Id="rId7"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6.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0.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image" Target="../media/image51.png"/><Relationship Id="rId9" Type="http://schemas.openxmlformats.org/officeDocument/2006/relationships/image" Target="../media/image6.png"/><Relationship Id="rId5" Type="http://schemas.openxmlformats.org/officeDocument/2006/relationships/image" Target="../media/image52.png"/><Relationship Id="rId6" Type="http://schemas.openxmlformats.org/officeDocument/2006/relationships/image" Target="../media/image55.png"/><Relationship Id="rId7" Type="http://schemas.openxmlformats.org/officeDocument/2006/relationships/image" Target="../media/image53.png"/><Relationship Id="rId8" Type="http://schemas.openxmlformats.org/officeDocument/2006/relationships/image" Target="../media/image6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8.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0.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3.png"/><Relationship Id="rId4" Type="http://schemas.openxmlformats.org/officeDocument/2006/relationships/image" Target="../media/image69.png"/><Relationship Id="rId5"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7.png"/><Relationship Id="rId4" Type="http://schemas.openxmlformats.org/officeDocument/2006/relationships/image" Target="../media/image68.png"/><Relationship Id="rId5"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3.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7.png"/><Relationship Id="rId4" Type="http://schemas.openxmlformats.org/officeDocument/2006/relationships/image" Target="../media/image71.png"/><Relationship Id="rId5"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2.png"/><Relationship Id="rId4" Type="http://schemas.openxmlformats.org/officeDocument/2006/relationships/image" Target="../media/image59.png"/><Relationship Id="rId5" Type="http://schemas.openxmlformats.org/officeDocument/2006/relationships/image" Target="../media/image62.png"/><Relationship Id="rId6"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mailto:elizavetar@campus.technion.ac.il" TargetMode="Externa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Basic concepts in coding of analyses of bio-medical data</a:t>
            </a:r>
            <a:endParaRPr/>
          </a:p>
        </p:txBody>
      </p:sp>
      <p:sp>
        <p:nvSpPr>
          <p:cNvPr id="55" name="Google Shape;55;p13"/>
          <p:cNvSpPr txBox="1"/>
          <p:nvPr>
            <p:ph idx="1" type="subTitle"/>
          </p:nvPr>
        </p:nvSpPr>
        <p:spPr>
          <a:xfrm>
            <a:off x="311700" y="4141600"/>
            <a:ext cx="8520600" cy="792600"/>
          </a:xfrm>
          <a:prstGeom prst="rect">
            <a:avLst/>
          </a:prstGeom>
        </p:spPr>
        <p:txBody>
          <a:bodyPr anchorCtr="0" anchor="t" bIns="91425" lIns="91425" spcFirstLastPara="1" rIns="91425" wrap="square" tIns="91425">
            <a:normAutofit/>
          </a:bodyPr>
          <a:lstStyle/>
          <a:p>
            <a:pPr indent="0" lvl="0" marL="0" rtl="0" algn="r">
              <a:lnSpc>
                <a:spcPct val="80000"/>
              </a:lnSpc>
              <a:spcBef>
                <a:spcPts val="0"/>
              </a:spcBef>
              <a:spcAft>
                <a:spcPts val="0"/>
              </a:spcAft>
              <a:buSzPts val="935"/>
              <a:buNone/>
            </a:pPr>
            <a:r>
              <a:rPr i="1" lang="ru" sz="1380"/>
              <a:t>Elizaveta Razvarina</a:t>
            </a:r>
            <a:endParaRPr i="1" sz="1380"/>
          </a:p>
          <a:p>
            <a:pPr indent="0" lvl="0" marL="0" rtl="0" algn="r">
              <a:lnSpc>
                <a:spcPct val="80000"/>
              </a:lnSpc>
              <a:spcBef>
                <a:spcPts val="0"/>
              </a:spcBef>
              <a:spcAft>
                <a:spcPts val="0"/>
              </a:spcAft>
              <a:buSzPts val="935"/>
              <a:buNone/>
            </a:pPr>
            <a:r>
              <a:rPr i="1" lang="ru" sz="1380"/>
              <a:t>elizavetar@campus.technion.ac.il</a:t>
            </a:r>
            <a:endParaRPr i="1" sz="1380"/>
          </a:p>
        </p:txBody>
      </p:sp>
      <p:pic>
        <p:nvPicPr>
          <p:cNvPr id="56" name="Google Shape;56;p13"/>
          <p:cNvPicPr preferRelativeResize="0"/>
          <p:nvPr/>
        </p:nvPicPr>
        <p:blipFill>
          <a:blip r:embed="rId3">
            <a:alphaModFix/>
          </a:blip>
          <a:stretch>
            <a:fillRect/>
          </a:stretch>
        </p:blipFill>
        <p:spPr>
          <a:xfrm>
            <a:off x="8705850" y="0"/>
            <a:ext cx="438150" cy="390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Main home messages for today: 06/04/2025</a:t>
            </a:r>
            <a:endParaRPr/>
          </a:p>
        </p:txBody>
      </p:sp>
      <p:sp>
        <p:nvSpPr>
          <p:cNvPr id="62" name="Google Shape;62;p14"/>
          <p:cNvSpPr txBox="1"/>
          <p:nvPr>
            <p:ph idx="1" type="body"/>
          </p:nvPr>
        </p:nvSpPr>
        <p:spPr>
          <a:xfrm>
            <a:off x="311700" y="1152475"/>
            <a:ext cx="3817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arenR"/>
            </a:pPr>
            <a:r>
              <a:rPr b="1" lang="ru"/>
              <a:t>MAT</a:t>
            </a:r>
            <a:r>
              <a:rPr lang="ru"/>
              <a:t>RIX </a:t>
            </a:r>
            <a:r>
              <a:rPr b="1" lang="ru"/>
              <a:t>LAB</a:t>
            </a:r>
            <a:r>
              <a:rPr lang="ru"/>
              <a:t>ORATORY</a:t>
            </a:r>
            <a:br>
              <a:rPr lang="ru"/>
            </a:br>
            <a:endParaRPr/>
          </a:p>
          <a:p>
            <a:pPr indent="-342900" lvl="0" marL="457200" rtl="0" algn="l">
              <a:spcBef>
                <a:spcPts val="0"/>
              </a:spcBef>
              <a:spcAft>
                <a:spcPts val="0"/>
              </a:spcAft>
              <a:buSzPts val="1800"/>
              <a:buAutoNum type="arabicParenR"/>
            </a:pPr>
            <a:r>
              <a:rPr b="1" lang="ru"/>
              <a:t>Variable</a:t>
            </a:r>
            <a:r>
              <a:rPr lang="ru"/>
              <a:t> types - it’s not just a number</a:t>
            </a:r>
            <a:br>
              <a:rPr lang="ru"/>
            </a:br>
            <a:endParaRPr/>
          </a:p>
          <a:p>
            <a:pPr indent="-342900" lvl="0" marL="457200" rtl="0" algn="l">
              <a:spcBef>
                <a:spcPts val="0"/>
              </a:spcBef>
              <a:spcAft>
                <a:spcPts val="0"/>
              </a:spcAft>
              <a:buSzPts val="1800"/>
              <a:buAutoNum type="arabicParenR"/>
            </a:pPr>
            <a:r>
              <a:rPr b="1" lang="ru"/>
              <a:t>Stat</a:t>
            </a:r>
            <a:r>
              <a:rPr lang="ru"/>
              <a:t> in Matlab - you will be as happy as these students</a:t>
            </a:r>
            <a:endParaRPr/>
          </a:p>
        </p:txBody>
      </p:sp>
      <p:pic>
        <p:nvPicPr>
          <p:cNvPr id="63" name="Google Shape;63;p14"/>
          <p:cNvPicPr preferRelativeResize="0"/>
          <p:nvPr/>
        </p:nvPicPr>
        <p:blipFill>
          <a:blip r:embed="rId3">
            <a:alphaModFix/>
          </a:blip>
          <a:stretch>
            <a:fillRect/>
          </a:stretch>
        </p:blipFill>
        <p:spPr>
          <a:xfrm>
            <a:off x="8705850" y="0"/>
            <a:ext cx="438150" cy="390525"/>
          </a:xfrm>
          <a:prstGeom prst="rect">
            <a:avLst/>
          </a:prstGeom>
          <a:noFill/>
          <a:ln>
            <a:noFill/>
          </a:ln>
        </p:spPr>
      </p:pic>
      <p:pic>
        <p:nvPicPr>
          <p:cNvPr id="64" name="Google Shape;64;p14" title="Video_students.mp4">
            <a:hlinkClick r:id="rId4"/>
          </p:cNvPr>
          <p:cNvPicPr preferRelativeResize="0"/>
          <p:nvPr/>
        </p:nvPicPr>
        <p:blipFill>
          <a:blip r:embed="rId5">
            <a:alphaModFix/>
          </a:blip>
          <a:stretch>
            <a:fillRect/>
          </a:stretch>
        </p:blipFill>
        <p:spPr>
          <a:xfrm>
            <a:off x="4281300" y="1170125"/>
            <a:ext cx="4710301" cy="2647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1000"/>
                                        <p:tgtEl>
                                          <p:spTgt spid="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2" st="2"/>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10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idx="1" type="body"/>
          </p:nvPr>
        </p:nvSpPr>
        <p:spPr>
          <a:xfrm>
            <a:off x="311700" y="1152475"/>
            <a:ext cx="5743500" cy="2733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ru" sz="1300">
                <a:solidFill>
                  <a:schemeClr val="dk1"/>
                </a:solidFill>
              </a:rPr>
              <a:t>MATLAB was originally developed in the late 1970s by </a:t>
            </a:r>
            <a:r>
              <a:rPr i="1" lang="ru" sz="1300">
                <a:solidFill>
                  <a:schemeClr val="dk1"/>
                </a:solidFill>
              </a:rPr>
              <a:t>Cleve</a:t>
            </a:r>
            <a:r>
              <a:rPr lang="ru" sz="1300">
                <a:solidFill>
                  <a:schemeClr val="dk1"/>
                </a:solidFill>
              </a:rPr>
              <a:t> </a:t>
            </a:r>
            <a:r>
              <a:rPr i="1" lang="ru" sz="1300">
                <a:solidFill>
                  <a:schemeClr val="dk1"/>
                </a:solidFill>
              </a:rPr>
              <a:t>Moler</a:t>
            </a:r>
            <a:r>
              <a:rPr lang="ru" sz="1300">
                <a:solidFill>
                  <a:schemeClr val="dk1"/>
                </a:solidFill>
              </a:rPr>
              <a:t>, a professor of mathematics. He created it as a way to provide his students easy access to LINPACK and EISPACK (libraries for numerical linear algebra), essentially making matrix computations accessible without diving into lower-level programming.</a:t>
            </a:r>
            <a:br>
              <a:rPr lang="ru" sz="1300">
                <a:solidFill>
                  <a:schemeClr val="dk1"/>
                </a:solidFill>
              </a:rPr>
            </a:br>
            <a:endParaRPr sz="1300">
              <a:solidFill>
                <a:schemeClr val="dk1"/>
              </a:solidFill>
            </a:endParaRPr>
          </a:p>
          <a:p>
            <a:pPr indent="0" lvl="0" marL="0" rtl="0" algn="l">
              <a:spcBef>
                <a:spcPts val="1200"/>
              </a:spcBef>
              <a:spcAft>
                <a:spcPts val="0"/>
              </a:spcAft>
              <a:buNone/>
            </a:pPr>
            <a:r>
              <a:rPr lang="ru" sz="1300">
                <a:solidFill>
                  <a:schemeClr val="dk1"/>
                </a:solidFill>
              </a:rPr>
              <a:t>In 1984, Moler and Jack Little founded </a:t>
            </a:r>
            <a:r>
              <a:rPr b="1" lang="ru" sz="1300">
                <a:solidFill>
                  <a:schemeClr val="dk1"/>
                </a:solidFill>
              </a:rPr>
              <a:t>MathWorks, Inc.</a:t>
            </a:r>
            <a:r>
              <a:rPr lang="ru" sz="1300">
                <a:solidFill>
                  <a:schemeClr val="dk1"/>
                </a:solidFill>
              </a:rPr>
              <a:t> to commercialize and continue development of MATLAB.</a:t>
            </a:r>
            <a:endParaRPr sz="1300">
              <a:solidFill>
                <a:schemeClr val="dk1"/>
              </a:solidFill>
            </a:endParaRPr>
          </a:p>
          <a:p>
            <a:pPr indent="0" lvl="0" marL="0" rtl="0" algn="l">
              <a:spcBef>
                <a:spcPts val="1200"/>
              </a:spcBef>
              <a:spcAft>
                <a:spcPts val="1200"/>
              </a:spcAft>
              <a:buNone/>
            </a:pPr>
            <a:br>
              <a:rPr b="1" lang="ru" sz="1300">
                <a:solidFill>
                  <a:schemeClr val="dk1"/>
                </a:solidFill>
              </a:rPr>
            </a:br>
            <a:r>
              <a:rPr lang="ru" sz="1300">
                <a:solidFill>
                  <a:schemeClr val="dk1"/>
                </a:solidFill>
              </a:rPr>
              <a:t>MATLAB stands for </a:t>
            </a:r>
            <a:r>
              <a:rPr b="1" lang="ru" sz="1300">
                <a:solidFill>
                  <a:schemeClr val="dk1"/>
                </a:solidFill>
              </a:rPr>
              <a:t>MAT</a:t>
            </a:r>
            <a:r>
              <a:rPr lang="ru" sz="1300">
                <a:solidFill>
                  <a:schemeClr val="dk1"/>
                </a:solidFill>
              </a:rPr>
              <a:t>rix </a:t>
            </a:r>
            <a:r>
              <a:rPr b="1" lang="ru" sz="1300">
                <a:solidFill>
                  <a:schemeClr val="dk1"/>
                </a:solidFill>
              </a:rPr>
              <a:t>LAB</a:t>
            </a:r>
            <a:r>
              <a:rPr lang="ru" sz="1300">
                <a:solidFill>
                  <a:schemeClr val="dk1"/>
                </a:solidFill>
              </a:rPr>
              <a:t>oratory. The name itself reflects its core strength—manipulating and visualizing matrices.</a:t>
            </a:r>
            <a:endParaRPr sz="2000"/>
          </a:p>
        </p:txBody>
      </p:sp>
      <p:pic>
        <p:nvPicPr>
          <p:cNvPr id="70" name="Google Shape;70;p15"/>
          <p:cNvPicPr preferRelativeResize="0"/>
          <p:nvPr/>
        </p:nvPicPr>
        <p:blipFill>
          <a:blip r:embed="rId3">
            <a:alphaModFix/>
          </a:blip>
          <a:stretch>
            <a:fillRect/>
          </a:stretch>
        </p:blipFill>
        <p:spPr>
          <a:xfrm>
            <a:off x="8705850" y="0"/>
            <a:ext cx="438150" cy="390525"/>
          </a:xfrm>
          <a:prstGeom prst="rect">
            <a:avLst/>
          </a:prstGeom>
          <a:noFill/>
          <a:ln>
            <a:noFill/>
          </a:ln>
        </p:spPr>
      </p:pic>
      <p:pic>
        <p:nvPicPr>
          <p:cNvPr id="71" name="Google Shape;71;p15"/>
          <p:cNvPicPr preferRelativeResize="0"/>
          <p:nvPr/>
        </p:nvPicPr>
        <p:blipFill>
          <a:blip r:embed="rId4">
            <a:alphaModFix/>
          </a:blip>
          <a:stretch>
            <a:fillRect/>
          </a:stretch>
        </p:blipFill>
        <p:spPr>
          <a:xfrm>
            <a:off x="6217800" y="1228725"/>
            <a:ext cx="2166650" cy="2166650"/>
          </a:xfrm>
          <a:prstGeom prst="rect">
            <a:avLst/>
          </a:prstGeom>
          <a:noFill/>
          <a:ln>
            <a:noFill/>
          </a:ln>
        </p:spPr>
      </p:pic>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Before to install</a:t>
            </a:r>
            <a:endParaRPr/>
          </a:p>
        </p:txBody>
      </p:sp>
      <p:pic>
        <p:nvPicPr>
          <p:cNvPr id="73" name="Google Shape;73;p15"/>
          <p:cNvPicPr preferRelativeResize="0"/>
          <p:nvPr/>
        </p:nvPicPr>
        <p:blipFill>
          <a:blip r:embed="rId5">
            <a:alphaModFix/>
          </a:blip>
          <a:stretch>
            <a:fillRect/>
          </a:stretch>
        </p:blipFill>
        <p:spPr>
          <a:xfrm>
            <a:off x="152400" y="4038775"/>
            <a:ext cx="8839199" cy="7272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69">
                                            <p:txEl>
                                              <p:pRg end="0" st="0"/>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69">
                                            <p:txEl>
                                              <p:pRg end="1" st="1"/>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Installation</a:t>
            </a:r>
            <a:endParaRPr/>
          </a:p>
        </p:txBody>
      </p:sp>
      <p:pic>
        <p:nvPicPr>
          <p:cNvPr id="79" name="Google Shape;79;p16"/>
          <p:cNvPicPr preferRelativeResize="0"/>
          <p:nvPr/>
        </p:nvPicPr>
        <p:blipFill>
          <a:blip r:embed="rId3">
            <a:alphaModFix/>
          </a:blip>
          <a:stretch>
            <a:fillRect/>
          </a:stretch>
        </p:blipFill>
        <p:spPr>
          <a:xfrm>
            <a:off x="152400" y="1017725"/>
            <a:ext cx="8839202" cy="1720797"/>
          </a:xfrm>
          <a:prstGeom prst="rect">
            <a:avLst/>
          </a:prstGeom>
          <a:noFill/>
          <a:ln>
            <a:noFill/>
          </a:ln>
        </p:spPr>
      </p:pic>
      <p:pic>
        <p:nvPicPr>
          <p:cNvPr id="80" name="Google Shape;80;p16"/>
          <p:cNvPicPr preferRelativeResize="0"/>
          <p:nvPr/>
        </p:nvPicPr>
        <p:blipFill>
          <a:blip r:embed="rId4">
            <a:alphaModFix/>
          </a:blip>
          <a:stretch>
            <a:fillRect/>
          </a:stretch>
        </p:blipFill>
        <p:spPr>
          <a:xfrm>
            <a:off x="1143000" y="2890922"/>
            <a:ext cx="6535689" cy="2100178"/>
          </a:xfrm>
          <a:prstGeom prst="rect">
            <a:avLst/>
          </a:prstGeom>
          <a:noFill/>
          <a:ln>
            <a:noFill/>
          </a:ln>
        </p:spPr>
      </p:pic>
      <p:pic>
        <p:nvPicPr>
          <p:cNvPr id="81" name="Google Shape;81;p16"/>
          <p:cNvPicPr preferRelativeResize="0"/>
          <p:nvPr/>
        </p:nvPicPr>
        <p:blipFill>
          <a:blip r:embed="rId5">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Installation or web-based version</a:t>
            </a:r>
            <a:endParaRPr/>
          </a:p>
        </p:txBody>
      </p:sp>
      <p:pic>
        <p:nvPicPr>
          <p:cNvPr id="87" name="Google Shape;87;p17"/>
          <p:cNvPicPr preferRelativeResize="0"/>
          <p:nvPr/>
        </p:nvPicPr>
        <p:blipFill>
          <a:blip r:embed="rId3">
            <a:alphaModFix/>
          </a:blip>
          <a:stretch>
            <a:fillRect/>
          </a:stretch>
        </p:blipFill>
        <p:spPr>
          <a:xfrm>
            <a:off x="152400" y="1170125"/>
            <a:ext cx="8839197" cy="1909632"/>
          </a:xfrm>
          <a:prstGeom prst="rect">
            <a:avLst/>
          </a:prstGeom>
          <a:noFill/>
          <a:ln>
            <a:noFill/>
          </a:ln>
        </p:spPr>
      </p:pic>
      <p:pic>
        <p:nvPicPr>
          <p:cNvPr id="88" name="Google Shape;88;p17"/>
          <p:cNvPicPr preferRelativeResize="0"/>
          <p:nvPr/>
        </p:nvPicPr>
        <p:blipFill>
          <a:blip r:embed="rId4">
            <a:alphaModFix/>
          </a:blip>
          <a:stretch>
            <a:fillRect/>
          </a:stretch>
        </p:blipFill>
        <p:spPr>
          <a:xfrm>
            <a:off x="8705850" y="0"/>
            <a:ext cx="438150" cy="390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Let’s look</a:t>
            </a:r>
            <a:endParaRPr/>
          </a:p>
        </p:txBody>
      </p:sp>
      <p:pic>
        <p:nvPicPr>
          <p:cNvPr id="94" name="Google Shape;94;p18"/>
          <p:cNvPicPr preferRelativeResize="0"/>
          <p:nvPr/>
        </p:nvPicPr>
        <p:blipFill>
          <a:blip r:embed="rId3">
            <a:alphaModFix/>
          </a:blip>
          <a:stretch>
            <a:fillRect/>
          </a:stretch>
        </p:blipFill>
        <p:spPr>
          <a:xfrm>
            <a:off x="152400" y="1170125"/>
            <a:ext cx="8839199" cy="1342838"/>
          </a:xfrm>
          <a:prstGeom prst="rect">
            <a:avLst/>
          </a:prstGeom>
          <a:noFill/>
          <a:ln>
            <a:noFill/>
          </a:ln>
        </p:spPr>
      </p:pic>
      <p:cxnSp>
        <p:nvCxnSpPr>
          <p:cNvPr id="95" name="Google Shape;95;p18"/>
          <p:cNvCxnSpPr/>
          <p:nvPr/>
        </p:nvCxnSpPr>
        <p:spPr>
          <a:xfrm flipH="1" rot="10800000">
            <a:off x="6305000" y="2033675"/>
            <a:ext cx="1177200" cy="1249200"/>
          </a:xfrm>
          <a:prstGeom prst="straightConnector1">
            <a:avLst/>
          </a:prstGeom>
          <a:noFill/>
          <a:ln cap="flat" cmpd="sng" w="9525">
            <a:solidFill>
              <a:schemeClr val="dk2"/>
            </a:solidFill>
            <a:prstDash val="solid"/>
            <a:round/>
            <a:headEnd len="med" w="med" type="none"/>
            <a:tailEnd len="med" w="med" type="triangle"/>
          </a:ln>
          <a:effectLst>
            <a:outerShdw blurRad="57150" rotWithShape="0" algn="bl" dir="5400000" dist="19050">
              <a:srgbClr val="000000">
                <a:alpha val="50000"/>
              </a:srgbClr>
            </a:outerShdw>
            <a:reflection blurRad="0" dir="5400000" dist="38100" endA="0" endPos="30000" fadeDir="5400012" kx="0" rotWithShape="0" algn="bl" stPos="0" sy="-100000" ky="0"/>
          </a:effectLst>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Matrix-based MATLAB language</a:t>
            </a:r>
            <a:endParaRPr/>
          </a:p>
        </p:txBody>
      </p:sp>
      <p:sp>
        <p:nvSpPr>
          <p:cNvPr id="101" name="Google Shape;101;p19"/>
          <p:cNvSpPr txBox="1"/>
          <p:nvPr>
            <p:ph idx="1" type="body"/>
          </p:nvPr>
        </p:nvSpPr>
        <p:spPr>
          <a:xfrm>
            <a:off x="311700" y="1076275"/>
            <a:ext cx="8520600" cy="3711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ru" sz="900">
                <a:solidFill>
                  <a:schemeClr val="dk1"/>
                </a:solidFill>
              </a:rPr>
              <a:t>Core Data Structure:</a:t>
            </a:r>
            <a:br>
              <a:rPr b="1" lang="ru" sz="900">
                <a:solidFill>
                  <a:schemeClr val="dk1"/>
                </a:solidFill>
              </a:rPr>
            </a:br>
            <a:r>
              <a:rPr lang="ru" sz="900">
                <a:solidFill>
                  <a:schemeClr val="dk1"/>
                </a:solidFill>
              </a:rPr>
              <a:t>The basic data structure in MATLAB is a matrix (or an array). Even a single number is treated as a 1×1 matrix.</a:t>
            </a:r>
            <a:endParaRPr sz="900">
              <a:solidFill>
                <a:schemeClr val="dk1"/>
              </a:solidFill>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endParaRPr>
          </a:p>
          <a:p>
            <a:pPr indent="0" lvl="0" marL="0" rtl="0" algn="l">
              <a:lnSpc>
                <a:spcPct val="95000"/>
              </a:lnSpc>
              <a:spcBef>
                <a:spcPts val="1200"/>
              </a:spcBef>
              <a:spcAft>
                <a:spcPts val="0"/>
              </a:spcAft>
              <a:buNone/>
            </a:pPr>
            <a:r>
              <a:t/>
            </a:r>
            <a:endParaRPr b="1" sz="900">
              <a:solidFill>
                <a:schemeClr val="dk1"/>
              </a:solidFill>
            </a:endParaRPr>
          </a:p>
          <a:p>
            <a:pPr indent="0" lvl="0" marL="0" rtl="0" algn="l">
              <a:lnSpc>
                <a:spcPct val="95000"/>
              </a:lnSpc>
              <a:spcBef>
                <a:spcPts val="1200"/>
              </a:spcBef>
              <a:spcAft>
                <a:spcPts val="0"/>
              </a:spcAft>
              <a:buNone/>
            </a:pPr>
            <a:r>
              <a:t/>
            </a:r>
            <a:endParaRPr b="1" sz="900">
              <a:solidFill>
                <a:schemeClr val="dk1"/>
              </a:solidFill>
            </a:endParaRPr>
          </a:p>
          <a:p>
            <a:pPr indent="0" lvl="0" marL="0" rtl="0" algn="l">
              <a:lnSpc>
                <a:spcPct val="95000"/>
              </a:lnSpc>
              <a:spcBef>
                <a:spcPts val="1200"/>
              </a:spcBef>
              <a:spcAft>
                <a:spcPts val="0"/>
              </a:spcAft>
              <a:buNone/>
            </a:pPr>
            <a:r>
              <a:rPr b="1" lang="ru" sz="900">
                <a:solidFill>
                  <a:schemeClr val="dk1"/>
                </a:solidFill>
              </a:rPr>
              <a:t>Natural Syntax for Mathematical Operations:</a:t>
            </a:r>
            <a:br>
              <a:rPr b="1" lang="ru" sz="900">
                <a:solidFill>
                  <a:schemeClr val="dk1"/>
                </a:solidFill>
              </a:rPr>
            </a:br>
            <a:r>
              <a:rPr lang="ru" sz="900">
                <a:solidFill>
                  <a:schemeClr val="dk1"/>
                </a:solidFill>
              </a:rPr>
              <a:t>Operations like addition, multiplication, and division are performed on whole arrays at once without needing explicit loops. For example, adding two matrices will automatically perform element-wise addition.</a:t>
            </a:r>
            <a:endParaRPr sz="900">
              <a:solidFill>
                <a:schemeClr val="dk1"/>
              </a:solidFill>
            </a:endParaRPr>
          </a:p>
          <a:p>
            <a:pPr indent="0" lvl="0" marL="0" rtl="0" algn="l">
              <a:lnSpc>
                <a:spcPct val="95000"/>
              </a:lnSpc>
              <a:spcBef>
                <a:spcPts val="1200"/>
              </a:spcBef>
              <a:spcAft>
                <a:spcPts val="0"/>
              </a:spcAft>
              <a:buNone/>
            </a:pPr>
            <a:r>
              <a:t/>
            </a:r>
            <a:endParaRPr sz="900">
              <a:solidFill>
                <a:schemeClr val="dk1"/>
              </a:solidFill>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endParaRPr>
          </a:p>
          <a:p>
            <a:pPr indent="0" lvl="0" marL="0" rtl="0" algn="l">
              <a:lnSpc>
                <a:spcPct val="95000"/>
              </a:lnSpc>
              <a:spcBef>
                <a:spcPts val="1200"/>
              </a:spcBef>
              <a:spcAft>
                <a:spcPts val="1200"/>
              </a:spcAft>
              <a:buNone/>
            </a:pPr>
            <a:r>
              <a:rPr b="1" lang="ru" sz="900">
                <a:solidFill>
                  <a:schemeClr val="dk1"/>
                </a:solidFill>
              </a:rPr>
              <a:t>Built-in Functions:</a:t>
            </a:r>
            <a:br>
              <a:rPr b="1" lang="ru" sz="900">
                <a:solidFill>
                  <a:schemeClr val="dk1"/>
                </a:solidFill>
              </a:rPr>
            </a:br>
            <a:r>
              <a:rPr lang="ru" sz="900">
                <a:solidFill>
                  <a:schemeClr val="dk1"/>
                </a:solidFill>
              </a:rPr>
              <a:t>MATLAB provides a wide range of functions that operate on matrices—such as solving linear systems, performing eigenvalue decomposition, or executing matrix factorizations—all optimized for matrix computations.</a:t>
            </a:r>
            <a:endParaRPr sz="1600"/>
          </a:p>
        </p:txBody>
      </p:sp>
      <p:pic>
        <p:nvPicPr>
          <p:cNvPr id="102" name="Google Shape;102;p19"/>
          <p:cNvPicPr preferRelativeResize="0"/>
          <p:nvPr/>
        </p:nvPicPr>
        <p:blipFill>
          <a:blip r:embed="rId3">
            <a:alphaModFix/>
          </a:blip>
          <a:stretch>
            <a:fillRect/>
          </a:stretch>
        </p:blipFill>
        <p:spPr>
          <a:xfrm>
            <a:off x="8705850" y="0"/>
            <a:ext cx="438150" cy="390525"/>
          </a:xfrm>
          <a:prstGeom prst="rect">
            <a:avLst/>
          </a:prstGeom>
          <a:noFill/>
          <a:ln>
            <a:noFill/>
          </a:ln>
        </p:spPr>
      </p:pic>
      <p:pic>
        <p:nvPicPr>
          <p:cNvPr id="103" name="Google Shape;103;p19"/>
          <p:cNvPicPr preferRelativeResize="0"/>
          <p:nvPr/>
        </p:nvPicPr>
        <p:blipFill>
          <a:blip r:embed="rId4">
            <a:alphaModFix/>
          </a:blip>
          <a:stretch>
            <a:fillRect/>
          </a:stretch>
        </p:blipFill>
        <p:spPr>
          <a:xfrm>
            <a:off x="402250" y="1723250"/>
            <a:ext cx="492724" cy="269825"/>
          </a:xfrm>
          <a:prstGeom prst="rect">
            <a:avLst/>
          </a:prstGeom>
          <a:noFill/>
          <a:ln>
            <a:noFill/>
          </a:ln>
        </p:spPr>
      </p:pic>
      <p:pic>
        <p:nvPicPr>
          <p:cNvPr id="104" name="Google Shape;104;p19"/>
          <p:cNvPicPr preferRelativeResize="0"/>
          <p:nvPr/>
        </p:nvPicPr>
        <p:blipFill>
          <a:blip r:embed="rId5">
            <a:alphaModFix/>
          </a:blip>
          <a:stretch>
            <a:fillRect/>
          </a:stretch>
        </p:blipFill>
        <p:spPr>
          <a:xfrm>
            <a:off x="1634271" y="1656621"/>
            <a:ext cx="873225" cy="650000"/>
          </a:xfrm>
          <a:prstGeom prst="rect">
            <a:avLst/>
          </a:prstGeom>
          <a:noFill/>
          <a:ln>
            <a:noFill/>
          </a:ln>
        </p:spPr>
      </p:pic>
      <p:cxnSp>
        <p:nvCxnSpPr>
          <p:cNvPr id="105" name="Google Shape;105;p19"/>
          <p:cNvCxnSpPr/>
          <p:nvPr/>
        </p:nvCxnSpPr>
        <p:spPr>
          <a:xfrm>
            <a:off x="1025125" y="1883800"/>
            <a:ext cx="408000" cy="8400"/>
          </a:xfrm>
          <a:prstGeom prst="straightConnector1">
            <a:avLst/>
          </a:prstGeom>
          <a:noFill/>
          <a:ln cap="flat" cmpd="sng" w="9525">
            <a:solidFill>
              <a:schemeClr val="dk2"/>
            </a:solidFill>
            <a:prstDash val="solid"/>
            <a:round/>
            <a:headEnd len="med" w="med" type="none"/>
            <a:tailEnd len="med" w="med" type="triangle"/>
          </a:ln>
        </p:spPr>
      </p:cxnSp>
      <p:pic>
        <p:nvPicPr>
          <p:cNvPr id="106" name="Google Shape;106;p19"/>
          <p:cNvPicPr preferRelativeResize="0"/>
          <p:nvPr/>
        </p:nvPicPr>
        <p:blipFill>
          <a:blip r:embed="rId6">
            <a:alphaModFix/>
          </a:blip>
          <a:stretch>
            <a:fillRect/>
          </a:stretch>
        </p:blipFill>
        <p:spPr>
          <a:xfrm>
            <a:off x="402247" y="2920400"/>
            <a:ext cx="1164450" cy="451675"/>
          </a:xfrm>
          <a:prstGeom prst="rect">
            <a:avLst/>
          </a:prstGeom>
          <a:noFill/>
          <a:ln>
            <a:noFill/>
          </a:ln>
        </p:spPr>
      </p:pic>
      <p:pic>
        <p:nvPicPr>
          <p:cNvPr id="107" name="Google Shape;107;p19"/>
          <p:cNvPicPr preferRelativeResize="0"/>
          <p:nvPr/>
        </p:nvPicPr>
        <p:blipFill>
          <a:blip r:embed="rId7">
            <a:alphaModFix/>
          </a:blip>
          <a:stretch>
            <a:fillRect/>
          </a:stretch>
        </p:blipFill>
        <p:spPr>
          <a:xfrm>
            <a:off x="3881425" y="2846188"/>
            <a:ext cx="1381125" cy="600075"/>
          </a:xfrm>
          <a:prstGeom prst="rect">
            <a:avLst/>
          </a:prstGeom>
          <a:noFill/>
          <a:ln>
            <a:noFill/>
          </a:ln>
        </p:spPr>
      </p:pic>
      <p:pic>
        <p:nvPicPr>
          <p:cNvPr id="108" name="Google Shape;108;p19"/>
          <p:cNvPicPr preferRelativeResize="0"/>
          <p:nvPr/>
        </p:nvPicPr>
        <p:blipFill>
          <a:blip r:embed="rId8">
            <a:alphaModFix/>
          </a:blip>
          <a:stretch>
            <a:fillRect/>
          </a:stretch>
        </p:blipFill>
        <p:spPr>
          <a:xfrm>
            <a:off x="2325050" y="2903338"/>
            <a:ext cx="742950" cy="485775"/>
          </a:xfrm>
          <a:prstGeom prst="rect">
            <a:avLst/>
          </a:prstGeom>
          <a:noFill/>
          <a:ln>
            <a:noFill/>
          </a:ln>
        </p:spPr>
      </p:pic>
      <p:cxnSp>
        <p:nvCxnSpPr>
          <p:cNvPr id="109" name="Google Shape;109;p19"/>
          <p:cNvCxnSpPr/>
          <p:nvPr/>
        </p:nvCxnSpPr>
        <p:spPr>
          <a:xfrm>
            <a:off x="3193913" y="3142638"/>
            <a:ext cx="561600" cy="7200"/>
          </a:xfrm>
          <a:prstGeom prst="straightConnector1">
            <a:avLst/>
          </a:prstGeom>
          <a:noFill/>
          <a:ln cap="flat" cmpd="sng" w="9525">
            <a:solidFill>
              <a:schemeClr val="dk2"/>
            </a:solidFill>
            <a:prstDash val="solid"/>
            <a:round/>
            <a:headEnd len="med" w="med" type="none"/>
            <a:tailEnd len="med" w="med" type="triangle"/>
          </a:ln>
        </p:spPr>
      </p:cxnSp>
      <p:pic>
        <p:nvPicPr>
          <p:cNvPr id="110" name="Google Shape;110;p19"/>
          <p:cNvPicPr preferRelativeResize="0"/>
          <p:nvPr/>
        </p:nvPicPr>
        <p:blipFill>
          <a:blip r:embed="rId9">
            <a:alphaModFix/>
          </a:blip>
          <a:stretch>
            <a:fillRect/>
          </a:stretch>
        </p:blipFill>
        <p:spPr>
          <a:xfrm>
            <a:off x="402250" y="4231875"/>
            <a:ext cx="5410200" cy="666750"/>
          </a:xfrm>
          <a:prstGeom prst="rect">
            <a:avLst/>
          </a:prstGeom>
          <a:noFill/>
          <a:ln>
            <a:noFill/>
          </a:ln>
        </p:spPr>
      </p:pic>
      <p:cxnSp>
        <p:nvCxnSpPr>
          <p:cNvPr id="111" name="Google Shape;111;p19"/>
          <p:cNvCxnSpPr/>
          <p:nvPr/>
        </p:nvCxnSpPr>
        <p:spPr>
          <a:xfrm>
            <a:off x="5946963" y="4561638"/>
            <a:ext cx="561600" cy="7200"/>
          </a:xfrm>
          <a:prstGeom prst="straightConnector1">
            <a:avLst/>
          </a:prstGeom>
          <a:noFill/>
          <a:ln cap="flat" cmpd="sng" w="9525">
            <a:solidFill>
              <a:schemeClr val="dk2"/>
            </a:solidFill>
            <a:prstDash val="solid"/>
            <a:round/>
            <a:headEnd len="med" w="med" type="none"/>
            <a:tailEnd len="med" w="med" type="triangle"/>
          </a:ln>
        </p:spPr>
      </p:cxnSp>
      <p:pic>
        <p:nvPicPr>
          <p:cNvPr id="112" name="Google Shape;112;p19"/>
          <p:cNvPicPr preferRelativeResize="0"/>
          <p:nvPr/>
        </p:nvPicPr>
        <p:blipFill>
          <a:blip r:embed="rId10">
            <a:alphaModFix/>
          </a:blip>
          <a:stretch>
            <a:fillRect/>
          </a:stretch>
        </p:blipFill>
        <p:spPr>
          <a:xfrm>
            <a:off x="6787270" y="4067170"/>
            <a:ext cx="1500075" cy="902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Variables</a:t>
            </a:r>
            <a:endParaRPr/>
          </a:p>
        </p:txBody>
      </p:sp>
      <p:pic>
        <p:nvPicPr>
          <p:cNvPr id="118" name="Google Shape;118;p20"/>
          <p:cNvPicPr preferRelativeResize="0"/>
          <p:nvPr/>
        </p:nvPicPr>
        <p:blipFill>
          <a:blip r:embed="rId3">
            <a:alphaModFix/>
          </a:blip>
          <a:stretch>
            <a:fillRect/>
          </a:stretch>
        </p:blipFill>
        <p:spPr>
          <a:xfrm>
            <a:off x="4004400" y="1017725"/>
            <a:ext cx="1342775" cy="841075"/>
          </a:xfrm>
          <a:prstGeom prst="rect">
            <a:avLst/>
          </a:prstGeom>
          <a:noFill/>
          <a:ln>
            <a:noFill/>
          </a:ln>
        </p:spPr>
      </p:pic>
      <p:pic>
        <p:nvPicPr>
          <p:cNvPr id="119" name="Google Shape;119;p20"/>
          <p:cNvPicPr preferRelativeResize="0"/>
          <p:nvPr/>
        </p:nvPicPr>
        <p:blipFill>
          <a:blip r:embed="rId4">
            <a:alphaModFix/>
          </a:blip>
          <a:stretch>
            <a:fillRect/>
          </a:stretch>
        </p:blipFill>
        <p:spPr>
          <a:xfrm>
            <a:off x="2558275" y="1017725"/>
            <a:ext cx="1342775" cy="841079"/>
          </a:xfrm>
          <a:prstGeom prst="rect">
            <a:avLst/>
          </a:prstGeom>
          <a:noFill/>
          <a:ln>
            <a:noFill/>
          </a:ln>
        </p:spPr>
      </p:pic>
      <p:pic>
        <p:nvPicPr>
          <p:cNvPr id="120" name="Google Shape;120;p20"/>
          <p:cNvPicPr preferRelativeResize="0"/>
          <p:nvPr/>
        </p:nvPicPr>
        <p:blipFill>
          <a:blip r:embed="rId5">
            <a:alphaModFix/>
          </a:blip>
          <a:stretch>
            <a:fillRect/>
          </a:stretch>
        </p:blipFill>
        <p:spPr>
          <a:xfrm>
            <a:off x="449625" y="1017725"/>
            <a:ext cx="1276350" cy="619125"/>
          </a:xfrm>
          <a:prstGeom prst="rect">
            <a:avLst/>
          </a:prstGeom>
          <a:noFill/>
          <a:ln>
            <a:noFill/>
          </a:ln>
        </p:spPr>
      </p:pic>
      <p:sp>
        <p:nvSpPr>
          <p:cNvPr id="121" name="Google Shape;121;p20"/>
          <p:cNvSpPr txBox="1"/>
          <p:nvPr/>
        </p:nvSpPr>
        <p:spPr>
          <a:xfrm>
            <a:off x="381000" y="2057400"/>
            <a:ext cx="7966800" cy="21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ru" sz="1100">
                <a:solidFill>
                  <a:schemeClr val="dk1"/>
                </a:solidFill>
              </a:rPr>
              <a:t>Naming Conventions: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ru" sz="1100">
                <a:solidFill>
                  <a:schemeClr val="dk1"/>
                </a:solidFill>
              </a:rPr>
              <a:t>Variable names must start with a letter.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ru" sz="1100">
                <a:solidFill>
                  <a:schemeClr val="dk1"/>
                </a:solidFill>
              </a:rPr>
              <a:t>They can contain letters, digits, and underscores.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ru" sz="1100">
                <a:solidFill>
                  <a:schemeClr val="dk1"/>
                </a:solidFill>
              </a:rPr>
              <a:t>MATLAB is case-sensitive (</a:t>
            </a:r>
            <a:r>
              <a:rPr lang="ru" sz="1100">
                <a:solidFill>
                  <a:srgbClr val="188038"/>
                </a:solidFill>
                <a:latin typeface="Roboto Mono"/>
                <a:ea typeface="Roboto Mono"/>
                <a:cs typeface="Roboto Mono"/>
                <a:sym typeface="Roboto Mono"/>
              </a:rPr>
              <a:t>Variable</a:t>
            </a:r>
            <a:r>
              <a:rPr lang="ru" sz="1100">
                <a:solidFill>
                  <a:schemeClr val="dk1"/>
                </a:solidFill>
              </a:rPr>
              <a:t> is different from </a:t>
            </a:r>
            <a:r>
              <a:rPr lang="ru" sz="1100">
                <a:solidFill>
                  <a:srgbClr val="188038"/>
                </a:solidFill>
                <a:latin typeface="Roboto Mono"/>
                <a:ea typeface="Roboto Mono"/>
                <a:cs typeface="Roboto Mono"/>
                <a:sym typeface="Roboto Mono"/>
              </a:rPr>
              <a:t>variable</a:t>
            </a:r>
            <a:r>
              <a:rPr lang="ru"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ru" sz="1100">
                <a:solidFill>
                  <a:schemeClr val="dk1"/>
                </a:solidFill>
              </a:rPr>
              <a:t>Workspace:</a:t>
            </a:r>
            <a:endParaRPr b="1" sz="1100">
              <a:solidFill>
                <a:schemeClr val="dk1"/>
              </a:solidFill>
            </a:endParaRPr>
          </a:p>
          <a:p>
            <a:pPr indent="0" lvl="0" marL="0" rtl="0" algn="l">
              <a:lnSpc>
                <a:spcPct val="115000"/>
              </a:lnSpc>
              <a:spcBef>
                <a:spcPts val="1200"/>
              </a:spcBef>
              <a:spcAft>
                <a:spcPts val="1200"/>
              </a:spcAft>
              <a:buNone/>
            </a:pPr>
            <a:r>
              <a:rPr lang="ru" sz="1100">
                <a:solidFill>
                  <a:schemeClr val="dk1"/>
                </a:solidFill>
              </a:rPr>
              <a:t>Variables are stored in the MATLAB workspace, which you can view using the </a:t>
            </a:r>
            <a:r>
              <a:rPr lang="ru" sz="1100">
                <a:solidFill>
                  <a:srgbClr val="188038"/>
                </a:solidFill>
                <a:latin typeface="Roboto Mono"/>
                <a:ea typeface="Roboto Mono"/>
                <a:cs typeface="Roboto Mono"/>
                <a:sym typeface="Roboto Mono"/>
              </a:rPr>
              <a:t>whos</a:t>
            </a:r>
            <a:r>
              <a:rPr lang="ru" sz="1100">
                <a:solidFill>
                  <a:schemeClr val="dk1"/>
                </a:solidFill>
              </a:rPr>
              <a:t> or </a:t>
            </a:r>
            <a:r>
              <a:rPr lang="ru" sz="1100">
                <a:solidFill>
                  <a:srgbClr val="188038"/>
                </a:solidFill>
                <a:latin typeface="Roboto Mono"/>
                <a:ea typeface="Roboto Mono"/>
                <a:cs typeface="Roboto Mono"/>
                <a:sym typeface="Roboto Mono"/>
              </a:rPr>
              <a:t>who</a:t>
            </a:r>
            <a:r>
              <a:rPr lang="ru" sz="1100">
                <a:solidFill>
                  <a:schemeClr val="dk1"/>
                </a:solidFill>
              </a:rPr>
              <a:t> commands.</a:t>
            </a:r>
            <a:endParaRPr sz="1100">
              <a:solidFill>
                <a:schemeClr val="dk1"/>
              </a:solidFill>
            </a:endParaRPr>
          </a:p>
        </p:txBody>
      </p:sp>
      <p:pic>
        <p:nvPicPr>
          <p:cNvPr id="122" name="Google Shape;122;p20"/>
          <p:cNvPicPr preferRelativeResize="0"/>
          <p:nvPr/>
        </p:nvPicPr>
        <p:blipFill>
          <a:blip r:embed="rId6">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numbers</a:t>
            </a:r>
            <a:endParaRPr/>
          </a:p>
        </p:txBody>
      </p:sp>
      <p:sp>
        <p:nvSpPr>
          <p:cNvPr id="128" name="Google Shape;128;p21"/>
          <p:cNvSpPr txBox="1"/>
          <p:nvPr/>
        </p:nvSpPr>
        <p:spPr>
          <a:xfrm>
            <a:off x="76200" y="1143000"/>
            <a:ext cx="8826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100">
                <a:solidFill>
                  <a:schemeClr val="dk1"/>
                </a:solidFill>
              </a:rPr>
              <a:t>Double (64 bits):</a:t>
            </a:r>
            <a:endParaRPr b="1" sz="1100">
              <a:solidFill>
                <a:schemeClr val="dk1"/>
              </a:solidFill>
            </a:endParaRPr>
          </a:p>
          <a:p>
            <a:pPr indent="0" lvl="0" marL="0" rtl="0" algn="l">
              <a:spcBef>
                <a:spcPts val="0"/>
              </a:spcBef>
              <a:spcAft>
                <a:spcPts val="0"/>
              </a:spcAft>
              <a:buNone/>
            </a:pPr>
            <a:r>
              <a:rPr lang="ru" sz="1100">
                <a:solidFill>
                  <a:schemeClr val="dk1"/>
                </a:solidFill>
              </a:rPr>
              <a:t>The default numeric type in MATLAB. Every number you enter (unless specified otherwise) is stored as a double-precision floating-point number.</a:t>
            </a:r>
            <a:endParaRPr/>
          </a:p>
        </p:txBody>
      </p:sp>
      <p:pic>
        <p:nvPicPr>
          <p:cNvPr id="129" name="Google Shape;129;p21"/>
          <p:cNvPicPr preferRelativeResize="0"/>
          <p:nvPr/>
        </p:nvPicPr>
        <p:blipFill>
          <a:blip r:embed="rId3">
            <a:alphaModFix/>
          </a:blip>
          <a:stretch>
            <a:fillRect/>
          </a:stretch>
        </p:blipFill>
        <p:spPr>
          <a:xfrm>
            <a:off x="152400" y="1988100"/>
            <a:ext cx="3038475" cy="590550"/>
          </a:xfrm>
          <a:prstGeom prst="rect">
            <a:avLst/>
          </a:prstGeom>
          <a:noFill/>
          <a:ln>
            <a:noFill/>
          </a:ln>
        </p:spPr>
      </p:pic>
      <p:pic>
        <p:nvPicPr>
          <p:cNvPr id="130" name="Google Shape;130;p21"/>
          <p:cNvPicPr preferRelativeResize="0"/>
          <p:nvPr/>
        </p:nvPicPr>
        <p:blipFill>
          <a:blip r:embed="rId4">
            <a:alphaModFix/>
          </a:blip>
          <a:stretch>
            <a:fillRect/>
          </a:stretch>
        </p:blipFill>
        <p:spPr>
          <a:xfrm>
            <a:off x="3698225" y="1711875"/>
            <a:ext cx="3114675" cy="1143000"/>
          </a:xfrm>
          <a:prstGeom prst="rect">
            <a:avLst/>
          </a:prstGeom>
          <a:noFill/>
          <a:ln>
            <a:noFill/>
          </a:ln>
        </p:spPr>
      </p:pic>
      <p:sp>
        <p:nvSpPr>
          <p:cNvPr id="131" name="Google Shape;131;p21"/>
          <p:cNvSpPr txBox="1"/>
          <p:nvPr/>
        </p:nvSpPr>
        <p:spPr>
          <a:xfrm>
            <a:off x="76200" y="2819400"/>
            <a:ext cx="8902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100">
                <a:solidFill>
                  <a:schemeClr val="dk1"/>
                </a:solidFill>
              </a:rPr>
              <a:t>Single (32 bits):</a:t>
            </a:r>
            <a:endParaRPr b="1" sz="1100">
              <a:solidFill>
                <a:schemeClr val="dk1"/>
              </a:solidFill>
            </a:endParaRPr>
          </a:p>
          <a:p>
            <a:pPr indent="0" lvl="0" marL="0" rtl="0" algn="l">
              <a:spcBef>
                <a:spcPts val="0"/>
              </a:spcBef>
              <a:spcAft>
                <a:spcPts val="0"/>
              </a:spcAft>
              <a:buNone/>
            </a:pPr>
            <a:r>
              <a:rPr lang="ru" sz="1100">
                <a:solidFill>
                  <a:schemeClr val="dk1"/>
                </a:solidFill>
              </a:rPr>
              <a:t>Single-precision floating-point numbers, which use less memory but offer lower precision.</a:t>
            </a:r>
            <a:endParaRPr/>
          </a:p>
        </p:txBody>
      </p:sp>
      <p:pic>
        <p:nvPicPr>
          <p:cNvPr id="132" name="Google Shape;132;p21"/>
          <p:cNvPicPr preferRelativeResize="0"/>
          <p:nvPr/>
        </p:nvPicPr>
        <p:blipFill>
          <a:blip r:embed="rId5">
            <a:alphaModFix/>
          </a:blip>
          <a:stretch>
            <a:fillRect/>
          </a:stretch>
        </p:blipFill>
        <p:spPr>
          <a:xfrm>
            <a:off x="152400" y="3495000"/>
            <a:ext cx="2362200" cy="514350"/>
          </a:xfrm>
          <a:prstGeom prst="rect">
            <a:avLst/>
          </a:prstGeom>
          <a:noFill/>
          <a:ln>
            <a:noFill/>
          </a:ln>
        </p:spPr>
      </p:pic>
      <p:pic>
        <p:nvPicPr>
          <p:cNvPr id="133" name="Google Shape;133;p21"/>
          <p:cNvPicPr preferRelativeResize="0"/>
          <p:nvPr/>
        </p:nvPicPr>
        <p:blipFill>
          <a:blip r:embed="rId6">
            <a:alphaModFix/>
          </a:blip>
          <a:stretch>
            <a:fillRect/>
          </a:stretch>
        </p:blipFill>
        <p:spPr>
          <a:xfrm>
            <a:off x="3698225" y="3495000"/>
            <a:ext cx="2390775" cy="1000125"/>
          </a:xfrm>
          <a:prstGeom prst="rect">
            <a:avLst/>
          </a:prstGeom>
          <a:noFill/>
          <a:ln>
            <a:noFill/>
          </a:ln>
        </p:spPr>
      </p:pic>
      <p:pic>
        <p:nvPicPr>
          <p:cNvPr id="134" name="Google Shape;134;p21"/>
          <p:cNvPicPr preferRelativeResize="0"/>
          <p:nvPr/>
        </p:nvPicPr>
        <p:blipFill>
          <a:blip r:embed="rId7">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Integers</a:t>
            </a:r>
            <a:endParaRPr/>
          </a:p>
        </p:txBody>
      </p:sp>
      <p:sp>
        <p:nvSpPr>
          <p:cNvPr id="140" name="Google Shape;140;p22"/>
          <p:cNvSpPr txBox="1"/>
          <p:nvPr/>
        </p:nvSpPr>
        <p:spPr>
          <a:xfrm>
            <a:off x="152400" y="1066800"/>
            <a:ext cx="87195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a:t>MATLAB offers several integer types that allow you to work with whole numbers while controlling the amount of memory used and specifying whether the numbers can be negative or only nonnegative.</a:t>
            </a:r>
            <a:endParaRPr/>
          </a:p>
        </p:txBody>
      </p:sp>
      <p:sp>
        <p:nvSpPr>
          <p:cNvPr id="141" name="Google Shape;141;p22"/>
          <p:cNvSpPr txBox="1"/>
          <p:nvPr/>
        </p:nvSpPr>
        <p:spPr>
          <a:xfrm>
            <a:off x="228600" y="1676400"/>
            <a:ext cx="8719500" cy="336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ru" sz="1200">
                <a:solidFill>
                  <a:schemeClr val="dk1"/>
                </a:solidFill>
              </a:rPr>
              <a:t>Signed Integer Types</a:t>
            </a:r>
            <a:endParaRPr b="1" sz="12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ru" sz="1000">
                <a:solidFill>
                  <a:schemeClr val="dk1"/>
                </a:solidFill>
              </a:rPr>
              <a:t>int8:</a:t>
            </a:r>
            <a:endParaRPr b="1"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Size:</a:t>
            </a:r>
            <a:r>
              <a:rPr lang="ru" sz="1000">
                <a:solidFill>
                  <a:schemeClr val="dk1"/>
                </a:solidFill>
              </a:rPr>
              <a:t> 8 bits (1 byte)</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Range:</a:t>
            </a:r>
            <a:r>
              <a:rPr lang="ru" sz="1000">
                <a:solidFill>
                  <a:schemeClr val="dk1"/>
                </a:solidFill>
              </a:rPr>
              <a:t> -128 to 127</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Usage:</a:t>
            </a:r>
            <a:r>
              <a:rPr lang="ru" sz="1000">
                <a:solidFill>
                  <a:schemeClr val="dk1"/>
                </a:solidFill>
              </a:rPr>
              <a:t> Use when you need to store small negative or positive integers.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ru" sz="1000">
                <a:solidFill>
                  <a:schemeClr val="dk1"/>
                </a:solidFill>
              </a:rPr>
              <a:t>int16:</a:t>
            </a:r>
            <a:endParaRPr b="1"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Size:</a:t>
            </a:r>
            <a:r>
              <a:rPr lang="ru" sz="1000">
                <a:solidFill>
                  <a:schemeClr val="dk1"/>
                </a:solidFill>
              </a:rPr>
              <a:t> 16 bits (2 bytes)</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Range:</a:t>
            </a:r>
            <a:r>
              <a:rPr lang="ru" sz="1000">
                <a:solidFill>
                  <a:schemeClr val="dk1"/>
                </a:solidFill>
              </a:rPr>
              <a:t> -32,768 to 32,767</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Usage:</a:t>
            </a:r>
            <a:r>
              <a:rPr lang="ru" sz="1000">
                <a:solidFill>
                  <a:schemeClr val="dk1"/>
                </a:solidFill>
              </a:rPr>
              <a:t> Suitable for moderately sized integers, balancing memory and range.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ru" sz="1000">
                <a:solidFill>
                  <a:schemeClr val="dk1"/>
                </a:solidFill>
              </a:rPr>
              <a:t>int32:</a:t>
            </a:r>
            <a:endParaRPr b="1"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Size:</a:t>
            </a:r>
            <a:r>
              <a:rPr lang="ru" sz="1000">
                <a:solidFill>
                  <a:schemeClr val="dk1"/>
                </a:solidFill>
              </a:rPr>
              <a:t> 32 bits (4 bytes)</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Range:</a:t>
            </a:r>
            <a:r>
              <a:rPr lang="ru" sz="1000">
                <a:solidFill>
                  <a:schemeClr val="dk1"/>
                </a:solidFill>
              </a:rPr>
              <a:t> -2,147,483,648 to 2,147,483,647</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Usage:</a:t>
            </a:r>
            <a:r>
              <a:rPr lang="ru" sz="1000">
                <a:solidFill>
                  <a:schemeClr val="dk1"/>
                </a:solidFill>
              </a:rPr>
              <a:t> This is often the default for many applications requiring integers, offering a large range.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ru" sz="1000">
                <a:solidFill>
                  <a:schemeClr val="dk1"/>
                </a:solidFill>
              </a:rPr>
              <a:t>int64:</a:t>
            </a:r>
            <a:endParaRPr b="1"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Size:</a:t>
            </a:r>
            <a:r>
              <a:rPr lang="ru" sz="1000">
                <a:solidFill>
                  <a:schemeClr val="dk1"/>
                </a:solidFill>
              </a:rPr>
              <a:t> 64 bits (8 bytes)</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Range:</a:t>
            </a:r>
            <a:r>
              <a:rPr lang="ru" sz="1000">
                <a:solidFill>
                  <a:schemeClr val="dk1"/>
                </a:solidFill>
              </a:rPr>
              <a:t> Approximately -9.22e18 to 9.22e18</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ru" sz="1000">
                <a:solidFill>
                  <a:schemeClr val="dk1"/>
                </a:solidFill>
              </a:rPr>
              <a:t>Usage:</a:t>
            </a:r>
            <a:r>
              <a:rPr lang="ru" sz="1000">
                <a:solidFill>
                  <a:schemeClr val="dk1"/>
                </a:solidFill>
              </a:rPr>
              <a:t> Use for very large integer values when memory is not a primary concern.</a:t>
            </a:r>
            <a:endParaRPr sz="1000">
              <a:solidFill>
                <a:schemeClr val="dk1"/>
              </a:solidFill>
            </a:endParaRPr>
          </a:p>
        </p:txBody>
      </p:sp>
      <p:pic>
        <p:nvPicPr>
          <p:cNvPr id="142" name="Google Shape;142;p22"/>
          <p:cNvPicPr preferRelativeResize="0"/>
          <p:nvPr/>
        </p:nvPicPr>
        <p:blipFill>
          <a:blip r:embed="rId3">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Integers</a:t>
            </a:r>
            <a:endParaRPr/>
          </a:p>
        </p:txBody>
      </p:sp>
      <p:sp>
        <p:nvSpPr>
          <p:cNvPr id="148" name="Google Shape;148;p23"/>
          <p:cNvSpPr txBox="1"/>
          <p:nvPr/>
        </p:nvSpPr>
        <p:spPr>
          <a:xfrm>
            <a:off x="76200" y="914400"/>
            <a:ext cx="8994600" cy="420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ru" sz="1300">
                <a:solidFill>
                  <a:schemeClr val="dk1"/>
                </a:solidFill>
              </a:rPr>
              <a:t>Unsigned Integer Types</a:t>
            </a:r>
            <a:endParaRPr b="1" sz="1300">
              <a:solidFill>
                <a:schemeClr val="dk1"/>
              </a:solidFill>
            </a:endParaRPr>
          </a:p>
          <a:p>
            <a:pPr indent="0" lvl="0" marL="0" rtl="0" algn="l">
              <a:lnSpc>
                <a:spcPct val="115000"/>
              </a:lnSpc>
              <a:spcBef>
                <a:spcPts val="1200"/>
              </a:spcBef>
              <a:spcAft>
                <a:spcPts val="0"/>
              </a:spcAft>
              <a:buNone/>
            </a:pPr>
            <a:r>
              <a:rPr lang="ru" sz="1100">
                <a:solidFill>
                  <a:schemeClr val="dk1"/>
                </a:solidFill>
              </a:rPr>
              <a:t>Unsigned integers can only represent nonnegative values, but they double the positive range compared to their signed counterparts because no bit is reserved for the sign.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ru" sz="1100">
                <a:solidFill>
                  <a:schemeClr val="dk1"/>
                </a:solidFill>
              </a:rPr>
              <a:t>uint8:</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Size:</a:t>
            </a:r>
            <a:r>
              <a:rPr lang="ru" sz="1100">
                <a:solidFill>
                  <a:schemeClr val="dk1"/>
                </a:solidFill>
              </a:rPr>
              <a:t> 8 bits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Range:</a:t>
            </a:r>
            <a:r>
              <a:rPr lang="ru" sz="1100">
                <a:solidFill>
                  <a:schemeClr val="dk1"/>
                </a:solidFill>
              </a:rPr>
              <a:t> 0 to 255</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Usage:</a:t>
            </a:r>
            <a:r>
              <a:rPr lang="ru" sz="1100">
                <a:solidFill>
                  <a:schemeClr val="dk1"/>
                </a:solidFill>
              </a:rPr>
              <a:t> Useful for storing small nonnegative integers, such as pixel values in images.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uint16:</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Size:</a:t>
            </a:r>
            <a:r>
              <a:rPr lang="ru" sz="1100">
                <a:solidFill>
                  <a:schemeClr val="dk1"/>
                </a:solidFill>
              </a:rPr>
              <a:t> 16 bits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Range:</a:t>
            </a:r>
            <a:r>
              <a:rPr lang="ru" sz="1100">
                <a:solidFill>
                  <a:schemeClr val="dk1"/>
                </a:solidFill>
              </a:rPr>
              <a:t> 0 to 65,535</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Usage:</a:t>
            </a:r>
            <a:r>
              <a:rPr lang="ru" sz="1100">
                <a:solidFill>
                  <a:schemeClr val="dk1"/>
                </a:solidFill>
              </a:rPr>
              <a:t> Often used in applications where negative values aren’t needed and a larger range is desired.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uint32:</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Size:</a:t>
            </a:r>
            <a:r>
              <a:rPr lang="ru" sz="1100">
                <a:solidFill>
                  <a:schemeClr val="dk1"/>
                </a:solidFill>
              </a:rPr>
              <a:t> 32 bits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Range:</a:t>
            </a:r>
            <a:r>
              <a:rPr lang="ru" sz="1100">
                <a:solidFill>
                  <a:schemeClr val="dk1"/>
                </a:solidFill>
              </a:rPr>
              <a:t> 0 to 4,294,967,295</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Usage:</a:t>
            </a:r>
            <a:r>
              <a:rPr lang="ru" sz="1100">
                <a:solidFill>
                  <a:schemeClr val="dk1"/>
                </a:solidFill>
              </a:rPr>
              <a:t> Commonly used for large counting numbers or indices when only nonnegative values are needed.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ru" sz="1100">
                <a:solidFill>
                  <a:schemeClr val="dk1"/>
                </a:solidFill>
              </a:rPr>
              <a:t>uint64:</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Size:</a:t>
            </a:r>
            <a:r>
              <a:rPr lang="ru" sz="1100">
                <a:solidFill>
                  <a:schemeClr val="dk1"/>
                </a:solidFill>
              </a:rPr>
              <a:t> 64 bits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Range:</a:t>
            </a:r>
            <a:r>
              <a:rPr lang="ru" sz="1100">
                <a:solidFill>
                  <a:schemeClr val="dk1"/>
                </a:solidFill>
              </a:rPr>
              <a:t> 0 to 18,446,744,073,709,551,615</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b="1" lang="ru" sz="1100">
                <a:solidFill>
                  <a:schemeClr val="dk1"/>
                </a:solidFill>
              </a:rPr>
              <a:t>Usage:</a:t>
            </a:r>
            <a:r>
              <a:rPr lang="ru" sz="1100">
                <a:solidFill>
                  <a:schemeClr val="dk1"/>
                </a:solidFill>
              </a:rPr>
              <a:t> Use when you need to store very large nonnegative numbers.</a:t>
            </a:r>
            <a:endParaRPr sz="1100">
              <a:solidFill>
                <a:schemeClr val="dk1"/>
              </a:solidFill>
            </a:endParaRPr>
          </a:p>
        </p:txBody>
      </p:sp>
      <p:pic>
        <p:nvPicPr>
          <p:cNvPr id="149" name="Google Shape;149;p23"/>
          <p:cNvPicPr preferRelativeResize="0"/>
          <p:nvPr/>
        </p:nvPicPr>
        <p:blipFill>
          <a:blip r:embed="rId3">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logical</a:t>
            </a:r>
            <a:endParaRPr/>
          </a:p>
        </p:txBody>
      </p:sp>
      <p:sp>
        <p:nvSpPr>
          <p:cNvPr id="155" name="Google Shape;155;p24"/>
          <p:cNvSpPr txBox="1"/>
          <p:nvPr/>
        </p:nvSpPr>
        <p:spPr>
          <a:xfrm>
            <a:off x="175200" y="1279825"/>
            <a:ext cx="8594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100">
                <a:solidFill>
                  <a:schemeClr val="dk1"/>
                </a:solidFill>
              </a:rPr>
              <a:t>Logical:</a:t>
            </a:r>
            <a:endParaRPr b="1" sz="1100">
              <a:solidFill>
                <a:schemeClr val="dk1"/>
              </a:solidFill>
            </a:endParaRPr>
          </a:p>
          <a:p>
            <a:pPr indent="0" lvl="0" marL="0" rtl="0" algn="l">
              <a:spcBef>
                <a:spcPts val="0"/>
              </a:spcBef>
              <a:spcAft>
                <a:spcPts val="0"/>
              </a:spcAft>
              <a:buNone/>
            </a:pPr>
            <a:r>
              <a:rPr lang="ru" sz="1100">
                <a:solidFill>
                  <a:schemeClr val="dk1"/>
                </a:solidFill>
              </a:rPr>
              <a:t>Represents boolean values (</a:t>
            </a:r>
            <a:r>
              <a:rPr lang="ru" sz="1100">
                <a:solidFill>
                  <a:srgbClr val="188038"/>
                </a:solidFill>
                <a:latin typeface="Roboto Mono"/>
                <a:ea typeface="Roboto Mono"/>
                <a:cs typeface="Roboto Mono"/>
                <a:sym typeface="Roboto Mono"/>
              </a:rPr>
              <a:t>true</a:t>
            </a:r>
            <a:r>
              <a:rPr lang="ru" sz="1100">
                <a:solidFill>
                  <a:schemeClr val="dk1"/>
                </a:solidFill>
              </a:rPr>
              <a:t> or </a:t>
            </a:r>
            <a:r>
              <a:rPr lang="ru" sz="1100">
                <a:solidFill>
                  <a:srgbClr val="188038"/>
                </a:solidFill>
                <a:latin typeface="Roboto Mono"/>
                <a:ea typeface="Roboto Mono"/>
                <a:cs typeface="Roboto Mono"/>
                <a:sym typeface="Roboto Mono"/>
              </a:rPr>
              <a:t>false</a:t>
            </a:r>
            <a:r>
              <a:rPr lang="ru" sz="1100">
                <a:solidFill>
                  <a:schemeClr val="dk1"/>
                </a:solidFill>
              </a:rPr>
              <a:t>). Useful in conditionals and for indexing.</a:t>
            </a:r>
            <a:endParaRPr sz="1100">
              <a:solidFill>
                <a:schemeClr val="dk1"/>
              </a:solidFill>
            </a:endParaRPr>
          </a:p>
        </p:txBody>
      </p:sp>
      <p:pic>
        <p:nvPicPr>
          <p:cNvPr id="156" name="Google Shape;156;p24"/>
          <p:cNvPicPr preferRelativeResize="0"/>
          <p:nvPr/>
        </p:nvPicPr>
        <p:blipFill>
          <a:blip r:embed="rId3">
            <a:alphaModFix/>
          </a:blip>
          <a:stretch>
            <a:fillRect/>
          </a:stretch>
        </p:blipFill>
        <p:spPr>
          <a:xfrm>
            <a:off x="152400" y="1955425"/>
            <a:ext cx="2257425" cy="523875"/>
          </a:xfrm>
          <a:prstGeom prst="rect">
            <a:avLst/>
          </a:prstGeom>
          <a:noFill/>
          <a:ln>
            <a:noFill/>
          </a:ln>
        </p:spPr>
      </p:pic>
      <p:pic>
        <p:nvPicPr>
          <p:cNvPr id="157" name="Google Shape;157;p24"/>
          <p:cNvPicPr preferRelativeResize="0"/>
          <p:nvPr/>
        </p:nvPicPr>
        <p:blipFill>
          <a:blip r:embed="rId4">
            <a:alphaModFix/>
          </a:blip>
          <a:stretch>
            <a:fillRect/>
          </a:stretch>
        </p:blipFill>
        <p:spPr>
          <a:xfrm>
            <a:off x="4107575" y="1955425"/>
            <a:ext cx="2305050" cy="1143000"/>
          </a:xfrm>
          <a:prstGeom prst="rect">
            <a:avLst/>
          </a:prstGeom>
          <a:noFill/>
          <a:ln>
            <a:noFill/>
          </a:ln>
        </p:spPr>
      </p:pic>
      <p:pic>
        <p:nvPicPr>
          <p:cNvPr id="158" name="Google Shape;158;p24"/>
          <p:cNvPicPr preferRelativeResize="0"/>
          <p:nvPr/>
        </p:nvPicPr>
        <p:blipFill>
          <a:blip r:embed="rId5">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character arrays and strings</a:t>
            </a:r>
            <a:endParaRPr/>
          </a:p>
        </p:txBody>
      </p:sp>
      <p:sp>
        <p:nvSpPr>
          <p:cNvPr id="164" name="Google Shape;164;p25"/>
          <p:cNvSpPr txBox="1"/>
          <p:nvPr/>
        </p:nvSpPr>
        <p:spPr>
          <a:xfrm>
            <a:off x="228600" y="1066800"/>
            <a:ext cx="8282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100">
                <a:solidFill>
                  <a:schemeClr val="dk1"/>
                </a:solidFill>
              </a:rPr>
              <a:t>Character Arrays:</a:t>
            </a:r>
            <a:endParaRPr b="1" sz="1100">
              <a:solidFill>
                <a:schemeClr val="dk1"/>
              </a:solidFill>
            </a:endParaRPr>
          </a:p>
          <a:p>
            <a:pPr indent="0" lvl="0" marL="0" rtl="0" algn="l">
              <a:spcBef>
                <a:spcPts val="0"/>
              </a:spcBef>
              <a:spcAft>
                <a:spcPts val="0"/>
              </a:spcAft>
              <a:buNone/>
            </a:pPr>
            <a:r>
              <a:rPr lang="ru" sz="1100">
                <a:solidFill>
                  <a:schemeClr val="dk1"/>
                </a:solidFill>
              </a:rPr>
              <a:t>Traditional way to store text. A sequence of characters enclosed in single quotes. You can index by character</a:t>
            </a:r>
            <a:endParaRPr/>
          </a:p>
        </p:txBody>
      </p:sp>
      <p:pic>
        <p:nvPicPr>
          <p:cNvPr id="165" name="Google Shape;165;p25"/>
          <p:cNvPicPr preferRelativeResize="0"/>
          <p:nvPr/>
        </p:nvPicPr>
        <p:blipFill>
          <a:blip r:embed="rId3">
            <a:alphaModFix/>
          </a:blip>
          <a:stretch>
            <a:fillRect/>
          </a:stretch>
        </p:blipFill>
        <p:spPr>
          <a:xfrm>
            <a:off x="152400" y="1742400"/>
            <a:ext cx="2228850" cy="457200"/>
          </a:xfrm>
          <a:prstGeom prst="rect">
            <a:avLst/>
          </a:prstGeom>
          <a:noFill/>
          <a:ln>
            <a:noFill/>
          </a:ln>
        </p:spPr>
      </p:pic>
      <p:pic>
        <p:nvPicPr>
          <p:cNvPr id="166" name="Google Shape;166;p25"/>
          <p:cNvPicPr preferRelativeResize="0"/>
          <p:nvPr/>
        </p:nvPicPr>
        <p:blipFill>
          <a:blip r:embed="rId4">
            <a:alphaModFix/>
          </a:blip>
          <a:stretch>
            <a:fillRect/>
          </a:stretch>
        </p:blipFill>
        <p:spPr>
          <a:xfrm>
            <a:off x="3429000" y="1666200"/>
            <a:ext cx="2085975" cy="1009650"/>
          </a:xfrm>
          <a:prstGeom prst="rect">
            <a:avLst/>
          </a:prstGeom>
          <a:noFill/>
          <a:ln>
            <a:noFill/>
          </a:ln>
        </p:spPr>
      </p:pic>
      <p:pic>
        <p:nvPicPr>
          <p:cNvPr id="167" name="Google Shape;167;p25"/>
          <p:cNvPicPr preferRelativeResize="0"/>
          <p:nvPr/>
        </p:nvPicPr>
        <p:blipFill>
          <a:blip r:embed="rId5">
            <a:alphaModFix/>
          </a:blip>
          <a:stretch>
            <a:fillRect/>
          </a:stretch>
        </p:blipFill>
        <p:spPr>
          <a:xfrm>
            <a:off x="228600" y="3957350"/>
            <a:ext cx="2352675" cy="447675"/>
          </a:xfrm>
          <a:prstGeom prst="rect">
            <a:avLst/>
          </a:prstGeom>
          <a:noFill/>
          <a:ln>
            <a:noFill/>
          </a:ln>
        </p:spPr>
      </p:pic>
      <p:sp>
        <p:nvSpPr>
          <p:cNvPr id="168" name="Google Shape;168;p25"/>
          <p:cNvSpPr txBox="1"/>
          <p:nvPr/>
        </p:nvSpPr>
        <p:spPr>
          <a:xfrm>
            <a:off x="228600" y="2978475"/>
            <a:ext cx="7873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100">
                <a:solidFill>
                  <a:schemeClr val="dk1"/>
                </a:solidFill>
              </a:rPr>
              <a:t>String Arrays:</a:t>
            </a:r>
            <a:endParaRPr b="1" sz="1100">
              <a:solidFill>
                <a:schemeClr val="dk1"/>
              </a:solidFill>
            </a:endParaRPr>
          </a:p>
          <a:p>
            <a:pPr indent="0" lvl="0" marL="0" rtl="0" algn="l">
              <a:spcBef>
                <a:spcPts val="0"/>
              </a:spcBef>
              <a:spcAft>
                <a:spcPts val="0"/>
              </a:spcAft>
              <a:buNone/>
            </a:pPr>
            <a:r>
              <a:rPr lang="ru" sz="1100">
                <a:solidFill>
                  <a:schemeClr val="dk1"/>
                </a:solidFill>
              </a:rPr>
              <a:t>Introduced in recent versions, string arrays are created using double quotes, you have only 1 element string. You can’t index by character</a:t>
            </a:r>
            <a:endParaRPr/>
          </a:p>
        </p:txBody>
      </p:sp>
      <p:pic>
        <p:nvPicPr>
          <p:cNvPr id="169" name="Google Shape;169;p25"/>
          <p:cNvPicPr preferRelativeResize="0"/>
          <p:nvPr/>
        </p:nvPicPr>
        <p:blipFill>
          <a:blip r:embed="rId6">
            <a:alphaModFix/>
          </a:blip>
          <a:stretch>
            <a:fillRect/>
          </a:stretch>
        </p:blipFill>
        <p:spPr>
          <a:xfrm>
            <a:off x="3419475" y="3823575"/>
            <a:ext cx="2455236" cy="1167525"/>
          </a:xfrm>
          <a:prstGeom prst="rect">
            <a:avLst/>
          </a:prstGeom>
          <a:noFill/>
          <a:ln>
            <a:noFill/>
          </a:ln>
        </p:spPr>
      </p:pic>
      <p:pic>
        <p:nvPicPr>
          <p:cNvPr id="170" name="Google Shape;170;p25"/>
          <p:cNvPicPr preferRelativeResize="0"/>
          <p:nvPr/>
        </p:nvPicPr>
        <p:blipFill>
          <a:blip r:embed="rId7">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Vectors</a:t>
            </a:r>
            <a:endParaRPr/>
          </a:p>
        </p:txBody>
      </p:sp>
      <p:sp>
        <p:nvSpPr>
          <p:cNvPr id="176" name="Google Shape;176;p26"/>
          <p:cNvSpPr txBox="1"/>
          <p:nvPr/>
        </p:nvSpPr>
        <p:spPr>
          <a:xfrm>
            <a:off x="228600" y="1066800"/>
            <a:ext cx="8664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A vector is a one-dimensional array. It can be either a row vector or a column vector. Simplest form of an array, used for sequences and lists of numbers.</a:t>
            </a:r>
            <a:endParaRPr/>
          </a:p>
          <a:p>
            <a:pPr indent="0" lvl="0" marL="0" rtl="0" algn="l">
              <a:spcBef>
                <a:spcPts val="0"/>
              </a:spcBef>
              <a:spcAft>
                <a:spcPts val="0"/>
              </a:spcAft>
              <a:buNone/>
            </a:pPr>
            <a:r>
              <a:t/>
            </a:r>
            <a:endParaRPr/>
          </a:p>
        </p:txBody>
      </p:sp>
      <p:pic>
        <p:nvPicPr>
          <p:cNvPr id="177" name="Google Shape;177;p26"/>
          <p:cNvPicPr preferRelativeResize="0"/>
          <p:nvPr/>
        </p:nvPicPr>
        <p:blipFill>
          <a:blip r:embed="rId3">
            <a:alphaModFix/>
          </a:blip>
          <a:stretch>
            <a:fillRect/>
          </a:stretch>
        </p:blipFill>
        <p:spPr>
          <a:xfrm>
            <a:off x="152400" y="1987200"/>
            <a:ext cx="2705100" cy="438150"/>
          </a:xfrm>
          <a:prstGeom prst="rect">
            <a:avLst/>
          </a:prstGeom>
          <a:noFill/>
          <a:ln>
            <a:noFill/>
          </a:ln>
        </p:spPr>
      </p:pic>
      <p:pic>
        <p:nvPicPr>
          <p:cNvPr id="178" name="Google Shape;178;p26"/>
          <p:cNvPicPr preferRelativeResize="0"/>
          <p:nvPr/>
        </p:nvPicPr>
        <p:blipFill>
          <a:blip r:embed="rId4">
            <a:alphaModFix/>
          </a:blip>
          <a:stretch>
            <a:fillRect/>
          </a:stretch>
        </p:blipFill>
        <p:spPr>
          <a:xfrm>
            <a:off x="152400" y="3034950"/>
            <a:ext cx="2705100" cy="438150"/>
          </a:xfrm>
          <a:prstGeom prst="rect">
            <a:avLst/>
          </a:prstGeom>
          <a:noFill/>
          <a:ln>
            <a:noFill/>
          </a:ln>
        </p:spPr>
      </p:pic>
      <p:pic>
        <p:nvPicPr>
          <p:cNvPr id="179" name="Google Shape;179;p26"/>
          <p:cNvPicPr preferRelativeResize="0"/>
          <p:nvPr/>
        </p:nvPicPr>
        <p:blipFill>
          <a:blip r:embed="rId5">
            <a:alphaModFix/>
          </a:blip>
          <a:stretch>
            <a:fillRect/>
          </a:stretch>
        </p:blipFill>
        <p:spPr>
          <a:xfrm>
            <a:off x="3602250" y="1777538"/>
            <a:ext cx="3206525" cy="857475"/>
          </a:xfrm>
          <a:prstGeom prst="rect">
            <a:avLst/>
          </a:prstGeom>
          <a:noFill/>
          <a:ln>
            <a:noFill/>
          </a:ln>
        </p:spPr>
      </p:pic>
      <p:pic>
        <p:nvPicPr>
          <p:cNvPr id="180" name="Google Shape;180;p26"/>
          <p:cNvPicPr preferRelativeResize="0"/>
          <p:nvPr/>
        </p:nvPicPr>
        <p:blipFill>
          <a:blip r:embed="rId6">
            <a:alphaModFix/>
          </a:blip>
          <a:stretch>
            <a:fillRect/>
          </a:stretch>
        </p:blipFill>
        <p:spPr>
          <a:xfrm>
            <a:off x="3619500" y="2787413"/>
            <a:ext cx="2571750" cy="1847850"/>
          </a:xfrm>
          <a:prstGeom prst="rect">
            <a:avLst/>
          </a:prstGeom>
          <a:noFill/>
          <a:ln>
            <a:noFill/>
          </a:ln>
        </p:spPr>
      </p:pic>
      <p:pic>
        <p:nvPicPr>
          <p:cNvPr id="181" name="Google Shape;181;p26"/>
          <p:cNvPicPr preferRelativeResize="0"/>
          <p:nvPr/>
        </p:nvPicPr>
        <p:blipFill>
          <a:blip r:embed="rId7">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Arrays</a:t>
            </a:r>
            <a:endParaRPr/>
          </a:p>
        </p:txBody>
      </p:sp>
      <p:pic>
        <p:nvPicPr>
          <p:cNvPr id="187" name="Google Shape;187;p27"/>
          <p:cNvPicPr preferRelativeResize="0"/>
          <p:nvPr/>
        </p:nvPicPr>
        <p:blipFill>
          <a:blip r:embed="rId3">
            <a:alphaModFix/>
          </a:blip>
          <a:stretch>
            <a:fillRect/>
          </a:stretch>
        </p:blipFill>
        <p:spPr>
          <a:xfrm>
            <a:off x="152400" y="1246325"/>
            <a:ext cx="3257550" cy="523875"/>
          </a:xfrm>
          <a:prstGeom prst="rect">
            <a:avLst/>
          </a:prstGeom>
          <a:noFill/>
          <a:ln>
            <a:noFill/>
          </a:ln>
        </p:spPr>
      </p:pic>
      <p:pic>
        <p:nvPicPr>
          <p:cNvPr id="188" name="Google Shape;188;p27"/>
          <p:cNvPicPr preferRelativeResize="0"/>
          <p:nvPr/>
        </p:nvPicPr>
        <p:blipFill>
          <a:blip r:embed="rId4">
            <a:alphaModFix/>
          </a:blip>
          <a:stretch>
            <a:fillRect/>
          </a:stretch>
        </p:blipFill>
        <p:spPr>
          <a:xfrm>
            <a:off x="4050121" y="1398725"/>
            <a:ext cx="2522129" cy="1276350"/>
          </a:xfrm>
          <a:prstGeom prst="rect">
            <a:avLst/>
          </a:prstGeom>
          <a:noFill/>
          <a:ln>
            <a:noFill/>
          </a:ln>
        </p:spPr>
      </p:pic>
      <p:pic>
        <p:nvPicPr>
          <p:cNvPr id="189" name="Google Shape;189;p27"/>
          <p:cNvPicPr preferRelativeResize="0"/>
          <p:nvPr/>
        </p:nvPicPr>
        <p:blipFill>
          <a:blip r:embed="rId5">
            <a:alphaModFix/>
          </a:blip>
          <a:stretch>
            <a:fillRect/>
          </a:stretch>
        </p:blipFill>
        <p:spPr>
          <a:xfrm>
            <a:off x="152400" y="3132275"/>
            <a:ext cx="3267075" cy="457200"/>
          </a:xfrm>
          <a:prstGeom prst="rect">
            <a:avLst/>
          </a:prstGeom>
          <a:noFill/>
          <a:ln>
            <a:noFill/>
          </a:ln>
        </p:spPr>
      </p:pic>
      <p:pic>
        <p:nvPicPr>
          <p:cNvPr id="190" name="Google Shape;190;p27"/>
          <p:cNvPicPr preferRelativeResize="0"/>
          <p:nvPr/>
        </p:nvPicPr>
        <p:blipFill>
          <a:blip r:embed="rId6">
            <a:alphaModFix/>
          </a:blip>
          <a:stretch>
            <a:fillRect/>
          </a:stretch>
        </p:blipFill>
        <p:spPr>
          <a:xfrm>
            <a:off x="4105275" y="2827475"/>
            <a:ext cx="2037244" cy="2316025"/>
          </a:xfrm>
          <a:prstGeom prst="rect">
            <a:avLst/>
          </a:prstGeom>
          <a:noFill/>
          <a:ln>
            <a:noFill/>
          </a:ln>
        </p:spPr>
      </p:pic>
      <p:sp>
        <p:nvSpPr>
          <p:cNvPr id="191" name="Google Shape;191;p27"/>
          <p:cNvSpPr txBox="1"/>
          <p:nvPr/>
        </p:nvSpPr>
        <p:spPr>
          <a:xfrm>
            <a:off x="76200" y="914400"/>
            <a:ext cx="863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Suitable for mathematical operations like matrix multiplication, element-wise operations, and more.</a:t>
            </a:r>
            <a:endParaRPr/>
          </a:p>
        </p:txBody>
      </p:sp>
      <p:pic>
        <p:nvPicPr>
          <p:cNvPr id="192" name="Google Shape;192;p27"/>
          <p:cNvPicPr preferRelativeResize="0"/>
          <p:nvPr/>
        </p:nvPicPr>
        <p:blipFill>
          <a:blip r:embed="rId7">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Operations with Vectors and Arrays</a:t>
            </a:r>
            <a:endParaRPr/>
          </a:p>
        </p:txBody>
      </p:sp>
      <p:sp>
        <p:nvSpPr>
          <p:cNvPr id="198" name="Google Shape;198;p28"/>
          <p:cNvSpPr txBox="1"/>
          <p:nvPr/>
        </p:nvSpPr>
        <p:spPr>
          <a:xfrm>
            <a:off x="304800" y="1066800"/>
            <a:ext cx="81108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100">
                <a:solidFill>
                  <a:schemeClr val="dk1"/>
                </a:solidFill>
              </a:rPr>
              <a:t>Element-wise Operations:</a:t>
            </a:r>
            <a:endParaRPr b="1" sz="1100">
              <a:solidFill>
                <a:schemeClr val="dk1"/>
              </a:solidFill>
            </a:endParaRPr>
          </a:p>
          <a:p>
            <a:pPr indent="0" lvl="0" marL="0" rtl="0" algn="l">
              <a:spcBef>
                <a:spcPts val="0"/>
              </a:spcBef>
              <a:spcAft>
                <a:spcPts val="0"/>
              </a:spcAft>
              <a:buNone/>
            </a:pPr>
            <a:r>
              <a:rPr lang="ru" sz="1100">
                <a:solidFill>
                  <a:schemeClr val="dk1"/>
                </a:solidFill>
              </a:rPr>
              <a:t>Use the dot (</a:t>
            </a:r>
            <a:r>
              <a:rPr lang="ru" sz="1100">
                <a:solidFill>
                  <a:srgbClr val="188038"/>
                </a:solidFill>
                <a:latin typeface="Roboto Mono"/>
                <a:ea typeface="Roboto Mono"/>
                <a:cs typeface="Roboto Mono"/>
                <a:sym typeface="Roboto Mono"/>
              </a:rPr>
              <a:t>.</a:t>
            </a:r>
            <a:r>
              <a:rPr lang="ru" sz="1100">
                <a:solidFill>
                  <a:schemeClr val="dk1"/>
                </a:solidFill>
              </a:rPr>
              <a:t>) operator before an operator for element-by-element computation.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ru" sz="1100">
                <a:solidFill>
                  <a:schemeClr val="dk1"/>
                </a:solidFill>
              </a:rPr>
              <a:t>Extracting Elements:</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ru" sz="1100">
                <a:solidFill>
                  <a:schemeClr val="dk1"/>
                </a:solidFill>
              </a:rPr>
              <a:t>Slicing Matrixes: </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pic>
        <p:nvPicPr>
          <p:cNvPr id="199" name="Google Shape;199;p28"/>
          <p:cNvPicPr preferRelativeResize="0"/>
          <p:nvPr/>
        </p:nvPicPr>
        <p:blipFill>
          <a:blip r:embed="rId3">
            <a:alphaModFix/>
          </a:blip>
          <a:stretch>
            <a:fillRect/>
          </a:stretch>
        </p:blipFill>
        <p:spPr>
          <a:xfrm>
            <a:off x="311700" y="1602575"/>
            <a:ext cx="1952625" cy="904875"/>
          </a:xfrm>
          <a:prstGeom prst="rect">
            <a:avLst/>
          </a:prstGeom>
          <a:noFill/>
          <a:ln>
            <a:noFill/>
          </a:ln>
        </p:spPr>
      </p:pic>
      <p:pic>
        <p:nvPicPr>
          <p:cNvPr id="200" name="Google Shape;200;p28"/>
          <p:cNvPicPr preferRelativeResize="0"/>
          <p:nvPr/>
        </p:nvPicPr>
        <p:blipFill>
          <a:blip r:embed="rId4">
            <a:alphaModFix/>
          </a:blip>
          <a:stretch>
            <a:fillRect/>
          </a:stretch>
        </p:blipFill>
        <p:spPr>
          <a:xfrm>
            <a:off x="311700" y="2961450"/>
            <a:ext cx="2853948" cy="572700"/>
          </a:xfrm>
          <a:prstGeom prst="rect">
            <a:avLst/>
          </a:prstGeom>
          <a:noFill/>
          <a:ln>
            <a:noFill/>
          </a:ln>
        </p:spPr>
      </p:pic>
      <p:pic>
        <p:nvPicPr>
          <p:cNvPr id="201" name="Google Shape;201;p28"/>
          <p:cNvPicPr preferRelativeResize="0"/>
          <p:nvPr/>
        </p:nvPicPr>
        <p:blipFill>
          <a:blip r:embed="rId5">
            <a:alphaModFix/>
          </a:blip>
          <a:stretch>
            <a:fillRect/>
          </a:stretch>
        </p:blipFill>
        <p:spPr>
          <a:xfrm>
            <a:off x="402188" y="3988138"/>
            <a:ext cx="1771650" cy="1019175"/>
          </a:xfrm>
          <a:prstGeom prst="rect">
            <a:avLst/>
          </a:prstGeom>
          <a:noFill/>
          <a:ln>
            <a:noFill/>
          </a:ln>
        </p:spPr>
      </p:pic>
      <p:pic>
        <p:nvPicPr>
          <p:cNvPr id="202" name="Google Shape;202;p28"/>
          <p:cNvPicPr preferRelativeResize="0"/>
          <p:nvPr/>
        </p:nvPicPr>
        <p:blipFill>
          <a:blip r:embed="rId6">
            <a:alphaModFix/>
          </a:blip>
          <a:stretch>
            <a:fillRect/>
          </a:stretch>
        </p:blipFill>
        <p:spPr>
          <a:xfrm>
            <a:off x="8705850" y="0"/>
            <a:ext cx="438150" cy="390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cell arrays</a:t>
            </a:r>
            <a:endParaRPr/>
          </a:p>
        </p:txBody>
      </p:sp>
      <p:sp>
        <p:nvSpPr>
          <p:cNvPr id="208" name="Google Shape;208;p29"/>
          <p:cNvSpPr txBox="1"/>
          <p:nvPr/>
        </p:nvSpPr>
        <p:spPr>
          <a:xfrm>
            <a:off x="100125" y="1176375"/>
            <a:ext cx="813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Cell arrays are containers that can store different types and sizes of data in each element.</a:t>
            </a:r>
            <a:endParaRPr/>
          </a:p>
        </p:txBody>
      </p:sp>
      <p:pic>
        <p:nvPicPr>
          <p:cNvPr id="209" name="Google Shape;209;p29"/>
          <p:cNvPicPr preferRelativeResize="0"/>
          <p:nvPr/>
        </p:nvPicPr>
        <p:blipFill>
          <a:blip r:embed="rId3">
            <a:alphaModFix/>
          </a:blip>
          <a:stretch>
            <a:fillRect/>
          </a:stretch>
        </p:blipFill>
        <p:spPr>
          <a:xfrm>
            <a:off x="152400" y="1728975"/>
            <a:ext cx="6238875" cy="514350"/>
          </a:xfrm>
          <a:prstGeom prst="rect">
            <a:avLst/>
          </a:prstGeom>
          <a:noFill/>
          <a:ln>
            <a:noFill/>
          </a:ln>
        </p:spPr>
      </p:pic>
      <p:pic>
        <p:nvPicPr>
          <p:cNvPr id="210" name="Google Shape;210;p29"/>
          <p:cNvPicPr preferRelativeResize="0"/>
          <p:nvPr/>
        </p:nvPicPr>
        <p:blipFill>
          <a:blip r:embed="rId4">
            <a:alphaModFix/>
          </a:blip>
          <a:stretch>
            <a:fillRect/>
          </a:stretch>
        </p:blipFill>
        <p:spPr>
          <a:xfrm>
            <a:off x="152400" y="2662700"/>
            <a:ext cx="1485900" cy="447675"/>
          </a:xfrm>
          <a:prstGeom prst="rect">
            <a:avLst/>
          </a:prstGeom>
          <a:noFill/>
          <a:ln>
            <a:noFill/>
          </a:ln>
        </p:spPr>
      </p:pic>
      <p:pic>
        <p:nvPicPr>
          <p:cNvPr id="211" name="Google Shape;211;p29"/>
          <p:cNvPicPr preferRelativeResize="0"/>
          <p:nvPr/>
        </p:nvPicPr>
        <p:blipFill>
          <a:blip r:embed="rId5">
            <a:alphaModFix/>
          </a:blip>
          <a:stretch>
            <a:fillRect/>
          </a:stretch>
        </p:blipFill>
        <p:spPr>
          <a:xfrm>
            <a:off x="255575" y="3438600"/>
            <a:ext cx="1485900" cy="447675"/>
          </a:xfrm>
          <a:prstGeom prst="rect">
            <a:avLst/>
          </a:prstGeom>
          <a:noFill/>
          <a:ln>
            <a:noFill/>
          </a:ln>
        </p:spPr>
      </p:pic>
      <p:pic>
        <p:nvPicPr>
          <p:cNvPr id="212" name="Google Shape;212;p29"/>
          <p:cNvPicPr preferRelativeResize="0"/>
          <p:nvPr/>
        </p:nvPicPr>
        <p:blipFill>
          <a:blip r:embed="rId6">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NB! </a:t>
            </a:r>
            <a:r>
              <a:rPr lang="ru" sz="2022"/>
              <a:t>look on the variable type)</a:t>
            </a:r>
            <a:endParaRPr sz="2022"/>
          </a:p>
        </p:txBody>
      </p:sp>
      <p:pic>
        <p:nvPicPr>
          <p:cNvPr id="218" name="Google Shape;218;p30"/>
          <p:cNvPicPr preferRelativeResize="0"/>
          <p:nvPr/>
        </p:nvPicPr>
        <p:blipFill>
          <a:blip r:embed="rId3">
            <a:alphaModFix/>
          </a:blip>
          <a:stretch>
            <a:fillRect/>
          </a:stretch>
        </p:blipFill>
        <p:spPr>
          <a:xfrm>
            <a:off x="76200" y="1398725"/>
            <a:ext cx="2819400" cy="581025"/>
          </a:xfrm>
          <a:prstGeom prst="rect">
            <a:avLst/>
          </a:prstGeom>
          <a:noFill/>
          <a:ln>
            <a:noFill/>
          </a:ln>
        </p:spPr>
      </p:pic>
      <p:pic>
        <p:nvPicPr>
          <p:cNvPr id="219" name="Google Shape;219;p30"/>
          <p:cNvPicPr preferRelativeResize="0"/>
          <p:nvPr/>
        </p:nvPicPr>
        <p:blipFill>
          <a:blip r:embed="rId4">
            <a:alphaModFix/>
          </a:blip>
          <a:stretch>
            <a:fillRect/>
          </a:stretch>
        </p:blipFill>
        <p:spPr>
          <a:xfrm>
            <a:off x="83100" y="2998175"/>
            <a:ext cx="2819400" cy="581025"/>
          </a:xfrm>
          <a:prstGeom prst="rect">
            <a:avLst/>
          </a:prstGeom>
          <a:noFill/>
          <a:ln>
            <a:noFill/>
          </a:ln>
        </p:spPr>
      </p:pic>
      <p:pic>
        <p:nvPicPr>
          <p:cNvPr id="220" name="Google Shape;220;p30"/>
          <p:cNvPicPr preferRelativeResize="0"/>
          <p:nvPr/>
        </p:nvPicPr>
        <p:blipFill>
          <a:blip r:embed="rId5">
            <a:alphaModFix/>
          </a:blip>
          <a:stretch>
            <a:fillRect/>
          </a:stretch>
        </p:blipFill>
        <p:spPr>
          <a:xfrm>
            <a:off x="152400" y="2055200"/>
            <a:ext cx="6124575" cy="838200"/>
          </a:xfrm>
          <a:prstGeom prst="rect">
            <a:avLst/>
          </a:prstGeom>
          <a:noFill/>
          <a:ln>
            <a:noFill/>
          </a:ln>
        </p:spPr>
      </p:pic>
      <p:pic>
        <p:nvPicPr>
          <p:cNvPr id="221" name="Google Shape;221;p30"/>
          <p:cNvPicPr preferRelativeResize="0"/>
          <p:nvPr/>
        </p:nvPicPr>
        <p:blipFill>
          <a:blip r:embed="rId6">
            <a:alphaModFix/>
          </a:blip>
          <a:stretch>
            <a:fillRect/>
          </a:stretch>
        </p:blipFill>
        <p:spPr>
          <a:xfrm>
            <a:off x="3467025" y="3020775"/>
            <a:ext cx="2593733" cy="1945300"/>
          </a:xfrm>
          <a:prstGeom prst="rect">
            <a:avLst/>
          </a:prstGeom>
          <a:noFill/>
          <a:ln>
            <a:noFill/>
          </a:ln>
        </p:spPr>
      </p:pic>
      <p:sp>
        <p:nvSpPr>
          <p:cNvPr id="222" name="Google Shape;222;p30"/>
          <p:cNvSpPr txBox="1"/>
          <p:nvPr/>
        </p:nvSpPr>
        <p:spPr>
          <a:xfrm>
            <a:off x="6692000" y="1586925"/>
            <a:ext cx="2185800" cy="20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Before beginning any processing, it's essential to identify the types of variables that will be involved</a:t>
            </a:r>
            <a:endParaRPr sz="1800">
              <a:solidFill>
                <a:schemeClr val="dk2"/>
              </a:solidFill>
            </a:endParaRPr>
          </a:p>
        </p:txBody>
      </p:sp>
      <p:pic>
        <p:nvPicPr>
          <p:cNvPr id="223" name="Google Shape;223;p30"/>
          <p:cNvPicPr preferRelativeResize="0"/>
          <p:nvPr/>
        </p:nvPicPr>
        <p:blipFill>
          <a:blip r:embed="rId7">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Variable types: if you don’t take into account variable type)</a:t>
            </a:r>
            <a:endParaRPr/>
          </a:p>
        </p:txBody>
      </p:sp>
      <p:pic>
        <p:nvPicPr>
          <p:cNvPr id="229" name="Google Shape;229;p31"/>
          <p:cNvPicPr preferRelativeResize="0"/>
          <p:nvPr/>
        </p:nvPicPr>
        <p:blipFill>
          <a:blip r:embed="rId3">
            <a:alphaModFix/>
          </a:blip>
          <a:stretch>
            <a:fillRect/>
          </a:stretch>
        </p:blipFill>
        <p:spPr>
          <a:xfrm>
            <a:off x="311700" y="1261900"/>
            <a:ext cx="2200275" cy="619125"/>
          </a:xfrm>
          <a:prstGeom prst="rect">
            <a:avLst/>
          </a:prstGeom>
          <a:noFill/>
          <a:ln>
            <a:noFill/>
          </a:ln>
        </p:spPr>
      </p:pic>
      <p:pic>
        <p:nvPicPr>
          <p:cNvPr id="230" name="Google Shape;230;p31"/>
          <p:cNvPicPr preferRelativeResize="0"/>
          <p:nvPr/>
        </p:nvPicPr>
        <p:blipFill>
          <a:blip r:embed="rId4">
            <a:alphaModFix/>
          </a:blip>
          <a:stretch>
            <a:fillRect/>
          </a:stretch>
        </p:blipFill>
        <p:spPr>
          <a:xfrm>
            <a:off x="3805302" y="1170125"/>
            <a:ext cx="3671900" cy="2915175"/>
          </a:xfrm>
          <a:prstGeom prst="rect">
            <a:avLst/>
          </a:prstGeom>
          <a:noFill/>
          <a:ln>
            <a:noFill/>
          </a:ln>
        </p:spPr>
      </p:pic>
      <p:sp>
        <p:nvSpPr>
          <p:cNvPr id="231" name="Google Shape;231;p31"/>
          <p:cNvSpPr txBox="1"/>
          <p:nvPr/>
        </p:nvSpPr>
        <p:spPr>
          <a:xfrm>
            <a:off x="0" y="4540800"/>
            <a:ext cx="848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https://blogs.mathworks.com/steve/2006/10/17/the-story-behind-the-matlab-default-image/</a:t>
            </a:r>
            <a:endParaRPr/>
          </a:p>
        </p:txBody>
      </p:sp>
      <p:sp>
        <p:nvSpPr>
          <p:cNvPr id="232" name="Google Shape;232;p31"/>
          <p:cNvSpPr txBox="1"/>
          <p:nvPr/>
        </p:nvSpPr>
        <p:spPr>
          <a:xfrm>
            <a:off x="3955400" y="1065850"/>
            <a:ext cx="30000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050">
                <a:solidFill>
                  <a:srgbClr val="404040"/>
                </a:solidFill>
                <a:highlight>
                  <a:srgbClr val="FFFFFF"/>
                </a:highlight>
                <a:latin typeface="Roboto"/>
                <a:ea typeface="Roboto"/>
                <a:cs typeface="Roboto"/>
                <a:sym typeface="Roboto"/>
              </a:rPr>
              <a:t>Default image for MATLAB 5</a:t>
            </a:r>
            <a:endParaRPr/>
          </a:p>
        </p:txBody>
      </p:sp>
      <p:pic>
        <p:nvPicPr>
          <p:cNvPr id="233" name="Google Shape;233;p31"/>
          <p:cNvPicPr preferRelativeResize="0"/>
          <p:nvPr/>
        </p:nvPicPr>
        <p:blipFill>
          <a:blip r:embed="rId5">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Just for fun</a:t>
            </a:r>
            <a:endParaRPr/>
          </a:p>
        </p:txBody>
      </p:sp>
      <p:sp>
        <p:nvSpPr>
          <p:cNvPr id="239" name="Google Shape;239;p32"/>
          <p:cNvSpPr txBox="1"/>
          <p:nvPr/>
        </p:nvSpPr>
        <p:spPr>
          <a:xfrm>
            <a:off x="200225" y="948875"/>
            <a:ext cx="8160300" cy="243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000">
                <a:solidFill>
                  <a:schemeClr val="dk1"/>
                </a:solidFill>
              </a:rPr>
              <a:t>When we say MATLAB handles numbers in </a:t>
            </a:r>
            <a:r>
              <a:rPr i="1" lang="ru" sz="1000">
                <a:solidFill>
                  <a:schemeClr val="dk1"/>
                </a:solidFill>
              </a:rPr>
              <a:t>double-precision</a:t>
            </a:r>
            <a:r>
              <a:rPr lang="ru" sz="1000">
                <a:solidFill>
                  <a:schemeClr val="dk1"/>
                </a:solidFill>
              </a:rPr>
              <a:t>, we mean that each number is stored using 64 bits (or binary digits) according to the IEEE 754 standard. This representation is divided into three parts:</a:t>
            </a:r>
            <a:endParaRPr sz="1000">
              <a:solidFill>
                <a:schemeClr val="dk1"/>
              </a:solidFill>
            </a:endParaRPr>
          </a:p>
          <a:p>
            <a:pPr indent="-292100" lvl="0" marL="457200" rtl="0" algn="l">
              <a:lnSpc>
                <a:spcPct val="115000"/>
              </a:lnSpc>
              <a:spcBef>
                <a:spcPts val="1200"/>
              </a:spcBef>
              <a:spcAft>
                <a:spcPts val="0"/>
              </a:spcAft>
              <a:buClr>
                <a:schemeClr val="dk1"/>
              </a:buClr>
              <a:buSzPts val="1000"/>
              <a:buAutoNum type="arabicPeriod"/>
            </a:pPr>
            <a:r>
              <a:rPr b="1" lang="ru" sz="1000">
                <a:solidFill>
                  <a:schemeClr val="dk1"/>
                </a:solidFill>
              </a:rPr>
              <a:t>Sign Bit:</a:t>
            </a:r>
            <a:br>
              <a:rPr b="1" lang="ru" sz="1000">
                <a:solidFill>
                  <a:schemeClr val="dk1"/>
                </a:solidFill>
              </a:rPr>
            </a:br>
            <a:r>
              <a:rPr lang="ru" sz="1000">
                <a:solidFill>
                  <a:schemeClr val="dk1"/>
                </a:solidFill>
              </a:rPr>
              <a:t>Determines if the number is positive or negative.</a:t>
            </a:r>
            <a:br>
              <a:rPr lang="ru"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b="1" lang="ru" sz="1000">
                <a:solidFill>
                  <a:schemeClr val="dk1"/>
                </a:solidFill>
              </a:rPr>
              <a:t>Exponent:</a:t>
            </a:r>
            <a:br>
              <a:rPr b="1" lang="ru" sz="1000">
                <a:solidFill>
                  <a:schemeClr val="dk1"/>
                </a:solidFill>
              </a:rPr>
            </a:br>
            <a:r>
              <a:rPr lang="ru" sz="1000">
                <a:solidFill>
                  <a:schemeClr val="dk1"/>
                </a:solidFill>
              </a:rPr>
              <a:t>A group of bits that scales the number (essentially shifting the decimal point). In double-precision format, the exponent is stored using 11 bits. These bits represent the power of 2 by which the number is scaled.</a:t>
            </a:r>
            <a:br>
              <a:rPr lang="ru"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b="1" lang="ru" sz="1000">
                <a:solidFill>
                  <a:schemeClr val="dk1"/>
                </a:solidFill>
              </a:rPr>
              <a:t>Mantissa (or Significand):</a:t>
            </a:r>
            <a:br>
              <a:rPr b="1" lang="ru" sz="1000">
                <a:solidFill>
                  <a:schemeClr val="dk1"/>
                </a:solidFill>
              </a:rPr>
            </a:br>
            <a:r>
              <a:rPr lang="ru" sz="1000">
                <a:solidFill>
                  <a:schemeClr val="dk1"/>
                </a:solidFill>
              </a:rPr>
              <a:t>The remaining bits that hold the actual digits of the number—the “meat” of the value. This part tells you the precision of the number, i.e., how many significant digits it contains.</a:t>
            </a:r>
            <a:endParaRPr sz="1000">
              <a:solidFill>
                <a:schemeClr val="dk1"/>
              </a:solidFill>
            </a:endParaRPr>
          </a:p>
        </p:txBody>
      </p:sp>
      <p:pic>
        <p:nvPicPr>
          <p:cNvPr id="240" name="Google Shape;240;p32"/>
          <p:cNvPicPr preferRelativeResize="0"/>
          <p:nvPr/>
        </p:nvPicPr>
        <p:blipFill>
          <a:blip r:embed="rId3">
            <a:alphaModFix/>
          </a:blip>
          <a:stretch>
            <a:fillRect/>
          </a:stretch>
        </p:blipFill>
        <p:spPr>
          <a:xfrm>
            <a:off x="416350" y="3388475"/>
            <a:ext cx="5047126" cy="1653625"/>
          </a:xfrm>
          <a:prstGeom prst="rect">
            <a:avLst/>
          </a:prstGeom>
          <a:noFill/>
          <a:ln>
            <a:noFill/>
          </a:ln>
        </p:spPr>
      </p:pic>
      <p:sp>
        <p:nvSpPr>
          <p:cNvPr id="241" name="Google Shape;241;p32"/>
          <p:cNvSpPr txBox="1"/>
          <p:nvPr/>
        </p:nvSpPr>
        <p:spPr>
          <a:xfrm>
            <a:off x="5723350" y="3487400"/>
            <a:ext cx="3000000" cy="548700"/>
          </a:xfrm>
          <a:prstGeom prst="rect">
            <a:avLst/>
          </a:prstGeom>
          <a:noFill/>
          <a:ln>
            <a:noFill/>
          </a:ln>
        </p:spPr>
        <p:txBody>
          <a:bodyPr anchorCtr="0" anchor="t" bIns="91425" lIns="91425" spcFirstLastPara="1" rIns="91425" wrap="square" tIns="91425">
            <a:spAutoFit/>
          </a:bodyPr>
          <a:lstStyle/>
          <a:p>
            <a:pPr indent="0" lvl="0" marL="0" marR="101600" rtl="0" algn="l">
              <a:lnSpc>
                <a:spcPct val="136500"/>
              </a:lnSpc>
              <a:spcBef>
                <a:spcPts val="0"/>
              </a:spcBef>
              <a:spcAft>
                <a:spcPts val="800"/>
              </a:spcAft>
              <a:buNone/>
            </a:pPr>
            <a:r>
              <a:rPr i="1" lang="ru" sz="1000">
                <a:solidFill>
                  <a:schemeClr val="dk1"/>
                </a:solidFill>
              </a:rPr>
              <a:t>in 5 bits of mantisa part (from 47 to 51) Steve Edins hide his eldest son) from 42 to 46 - a dog</a:t>
            </a:r>
            <a:endParaRPr i="1" sz="1000">
              <a:solidFill>
                <a:schemeClr val="dk1"/>
              </a:solidFill>
            </a:endParaRPr>
          </a:p>
        </p:txBody>
      </p:sp>
      <p:pic>
        <p:nvPicPr>
          <p:cNvPr id="242" name="Google Shape;242;p32"/>
          <p:cNvPicPr preferRelativeResize="0"/>
          <p:nvPr/>
        </p:nvPicPr>
        <p:blipFill>
          <a:blip r:embed="rId4">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3"/>
          <p:cNvPicPr preferRelativeResize="0"/>
          <p:nvPr/>
        </p:nvPicPr>
        <p:blipFill>
          <a:blip r:embed="rId3">
            <a:alphaModFix/>
          </a:blip>
          <a:stretch>
            <a:fillRect/>
          </a:stretch>
        </p:blipFill>
        <p:spPr>
          <a:xfrm>
            <a:off x="5448925" y="152400"/>
            <a:ext cx="3571819" cy="4838699"/>
          </a:xfrm>
          <a:prstGeom prst="rect">
            <a:avLst/>
          </a:prstGeom>
          <a:noFill/>
          <a:ln>
            <a:noFill/>
          </a:ln>
        </p:spPr>
      </p:pic>
      <p:sp>
        <p:nvSpPr>
          <p:cNvPr id="248" name="Google Shape;248;p33"/>
          <p:cNvSpPr txBox="1"/>
          <p:nvPr/>
        </p:nvSpPr>
        <p:spPr>
          <a:xfrm>
            <a:off x="317275" y="1750550"/>
            <a:ext cx="4863600" cy="13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Type and name of the variable matters</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Statistical Methods</a:t>
            </a:r>
            <a:endParaRPr/>
          </a:p>
        </p:txBody>
      </p:sp>
      <p:sp>
        <p:nvSpPr>
          <p:cNvPr id="254" name="Google Shape;254;p34"/>
          <p:cNvSpPr txBox="1"/>
          <p:nvPr>
            <p:ph idx="1" type="body"/>
          </p:nvPr>
        </p:nvSpPr>
        <p:spPr>
          <a:xfrm>
            <a:off x="311700" y="1152475"/>
            <a:ext cx="48903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50000"/>
              </a:lnSpc>
              <a:spcBef>
                <a:spcPts val="200"/>
              </a:spcBef>
              <a:spcAft>
                <a:spcPts val="0"/>
              </a:spcAft>
              <a:buNone/>
            </a:pPr>
            <a:r>
              <a:rPr lang="ru" sz="1250">
                <a:solidFill>
                  <a:schemeClr val="accent2"/>
                </a:solidFill>
              </a:rPr>
              <a:t>When we are talking about statistical methods for describing data, we are talking about </a:t>
            </a:r>
            <a:r>
              <a:rPr b="1" lang="ru" sz="1250">
                <a:solidFill>
                  <a:schemeClr val="accent2"/>
                </a:solidFill>
              </a:rPr>
              <a:t>using a collected sample of an overall population to make descriptions of the population as a whole</a:t>
            </a:r>
            <a:r>
              <a:rPr lang="ru" sz="1250">
                <a:solidFill>
                  <a:schemeClr val="accent2"/>
                </a:solidFill>
              </a:rPr>
              <a:t>. </a:t>
            </a:r>
            <a:endParaRPr sz="1250">
              <a:solidFill>
                <a:schemeClr val="accent2"/>
              </a:solidFill>
            </a:endParaRPr>
          </a:p>
          <a:p>
            <a:pPr indent="0" lvl="0" marL="0" rtl="0" algn="l">
              <a:lnSpc>
                <a:spcPct val="150000"/>
              </a:lnSpc>
              <a:spcBef>
                <a:spcPts val="700"/>
              </a:spcBef>
              <a:spcAft>
                <a:spcPts val="0"/>
              </a:spcAft>
              <a:buNone/>
            </a:pPr>
            <a:r>
              <a:t/>
            </a:r>
            <a:endParaRPr sz="1050">
              <a:solidFill>
                <a:schemeClr val="accent2"/>
              </a:solidFill>
            </a:endParaRPr>
          </a:p>
          <a:p>
            <a:pPr indent="0" lvl="0" marL="0" rtl="0" algn="l">
              <a:lnSpc>
                <a:spcPct val="150000"/>
              </a:lnSpc>
              <a:spcBef>
                <a:spcPts val="700"/>
              </a:spcBef>
              <a:spcAft>
                <a:spcPts val="0"/>
              </a:spcAft>
              <a:buNone/>
            </a:pPr>
            <a:r>
              <a:rPr lang="ru" sz="1050">
                <a:solidFill>
                  <a:schemeClr val="accent2"/>
                </a:solidFill>
              </a:rPr>
              <a:t>*If your data set is very small or you have a lot of missing values, you may not have enough data to make meaningful observations. And in that case, you'll probably need to collect more data!</a:t>
            </a:r>
            <a:endParaRPr sz="1050">
              <a:solidFill>
                <a:schemeClr val="accent2"/>
              </a:solidFill>
            </a:endParaRPr>
          </a:p>
          <a:p>
            <a:pPr indent="0" lvl="0" marL="0" rtl="0" algn="l">
              <a:lnSpc>
                <a:spcPct val="150000"/>
              </a:lnSpc>
              <a:spcBef>
                <a:spcPts val="700"/>
              </a:spcBef>
              <a:spcAft>
                <a:spcPts val="0"/>
              </a:spcAft>
              <a:buNone/>
            </a:pPr>
            <a:r>
              <a:t/>
            </a:r>
            <a:endParaRPr sz="1250">
              <a:solidFill>
                <a:schemeClr val="accent2"/>
              </a:solidFill>
            </a:endParaRPr>
          </a:p>
          <a:p>
            <a:pPr indent="0" lvl="0" marL="0" rtl="0" algn="l">
              <a:lnSpc>
                <a:spcPct val="150000"/>
              </a:lnSpc>
              <a:spcBef>
                <a:spcPts val="700"/>
              </a:spcBef>
              <a:spcAft>
                <a:spcPts val="0"/>
              </a:spcAft>
              <a:buNone/>
            </a:pPr>
            <a:r>
              <a:rPr lang="ru" sz="1250">
                <a:solidFill>
                  <a:schemeClr val="accent2"/>
                </a:solidFill>
              </a:rPr>
              <a:t>We will use </a:t>
            </a:r>
            <a:r>
              <a:rPr i="1" lang="ru" sz="1250">
                <a:solidFill>
                  <a:schemeClr val="accent2"/>
                </a:solidFill>
              </a:rPr>
              <a:t>palmerpenguins</a:t>
            </a:r>
            <a:r>
              <a:rPr lang="ru" sz="1250">
                <a:solidFill>
                  <a:schemeClr val="accent2"/>
                </a:solidFill>
              </a:rPr>
              <a:t> dataset from </a:t>
            </a:r>
            <a:r>
              <a:rPr b="1" lang="ru" sz="1250">
                <a:solidFill>
                  <a:schemeClr val="accent2"/>
                </a:solidFill>
              </a:rPr>
              <a:t>Matlab Biosciences Data Module </a:t>
            </a:r>
            <a:r>
              <a:rPr lang="ru" sz="1250">
                <a:solidFill>
                  <a:schemeClr val="accent2"/>
                </a:solidFill>
              </a:rPr>
              <a:t>(*you can look by yourself).</a:t>
            </a:r>
            <a:endParaRPr sz="1250">
              <a:solidFill>
                <a:schemeClr val="accent2"/>
              </a:solidFill>
            </a:endParaRPr>
          </a:p>
          <a:p>
            <a:pPr indent="0" lvl="0" marL="0" rtl="0" algn="l">
              <a:lnSpc>
                <a:spcPct val="150000"/>
              </a:lnSpc>
              <a:spcBef>
                <a:spcPts val="700"/>
              </a:spcBef>
              <a:spcAft>
                <a:spcPts val="0"/>
              </a:spcAft>
              <a:buClr>
                <a:schemeClr val="dk1"/>
              </a:buClr>
              <a:buSzPct val="88000"/>
              <a:buFont typeface="Arial"/>
              <a:buNone/>
            </a:pPr>
            <a:r>
              <a:t/>
            </a:r>
            <a:endParaRPr sz="1250">
              <a:solidFill>
                <a:schemeClr val="accent2"/>
              </a:solidFill>
            </a:endParaRPr>
          </a:p>
          <a:p>
            <a:pPr indent="0" lvl="0" marL="0" rtl="0" algn="l">
              <a:spcBef>
                <a:spcPts val="700"/>
              </a:spcBef>
              <a:spcAft>
                <a:spcPts val="1200"/>
              </a:spcAft>
              <a:buNone/>
            </a:pPr>
            <a:r>
              <a:t/>
            </a:r>
            <a:endParaRPr/>
          </a:p>
        </p:txBody>
      </p:sp>
      <p:sp>
        <p:nvSpPr>
          <p:cNvPr id="255" name="Google Shape;255;p34"/>
          <p:cNvSpPr txBox="1"/>
          <p:nvPr/>
        </p:nvSpPr>
        <p:spPr>
          <a:xfrm>
            <a:off x="-33025" y="4743300"/>
            <a:ext cx="541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https://allisonhorst.github.io/palmerpenguins/</a:t>
            </a:r>
            <a:endParaRPr/>
          </a:p>
        </p:txBody>
      </p:sp>
      <p:pic>
        <p:nvPicPr>
          <p:cNvPr id="256" name="Google Shape;256;p34"/>
          <p:cNvPicPr preferRelativeResize="0"/>
          <p:nvPr/>
        </p:nvPicPr>
        <p:blipFill rotWithShape="1">
          <a:blip r:embed="rId3">
            <a:alphaModFix/>
          </a:blip>
          <a:srcRect b="10522" l="8958" r="0" t="0"/>
          <a:stretch/>
        </p:blipFill>
        <p:spPr>
          <a:xfrm>
            <a:off x="5515850" y="1246325"/>
            <a:ext cx="3522650" cy="1906625"/>
          </a:xfrm>
          <a:prstGeom prst="rect">
            <a:avLst/>
          </a:prstGeom>
          <a:noFill/>
          <a:ln>
            <a:noFill/>
          </a:ln>
        </p:spPr>
      </p:pic>
      <p:sp>
        <p:nvSpPr>
          <p:cNvPr id="257" name="Google Shape;257;p34"/>
          <p:cNvSpPr txBox="1"/>
          <p:nvPr/>
        </p:nvSpPr>
        <p:spPr>
          <a:xfrm>
            <a:off x="5832300" y="3225525"/>
            <a:ext cx="3000000" cy="346200"/>
          </a:xfrm>
          <a:prstGeom prst="rect">
            <a:avLst/>
          </a:prstGeom>
          <a:noFill/>
          <a:ln>
            <a:noFill/>
          </a:ln>
        </p:spPr>
        <p:txBody>
          <a:bodyPr anchorCtr="0" anchor="t" bIns="91425" lIns="91425" spcFirstLastPara="1" rIns="91425" wrap="square" tIns="91425">
            <a:spAutoFit/>
          </a:bodyPr>
          <a:lstStyle/>
          <a:p>
            <a:pPr indent="0" lvl="0" marL="0" rtl="0" algn="ctr">
              <a:lnSpc>
                <a:spcPct val="143181"/>
              </a:lnSpc>
              <a:spcBef>
                <a:spcPts val="200"/>
              </a:spcBef>
              <a:spcAft>
                <a:spcPts val="700"/>
              </a:spcAft>
              <a:buNone/>
            </a:pPr>
            <a:r>
              <a:rPr lang="ru" sz="1050">
                <a:solidFill>
                  <a:schemeClr val="accent2"/>
                </a:solidFill>
              </a:rPr>
              <a:t>Adelie penguins having a group meeting</a:t>
            </a:r>
            <a:endParaRPr sz="1050">
              <a:solidFill>
                <a:schemeClr val="accent2"/>
              </a:solidFill>
            </a:endParaRPr>
          </a:p>
        </p:txBody>
      </p:sp>
      <p:sp>
        <p:nvSpPr>
          <p:cNvPr id="258" name="Google Shape;258;p34"/>
          <p:cNvSpPr txBox="1"/>
          <p:nvPr/>
        </p:nvSpPr>
        <p:spPr>
          <a:xfrm>
            <a:off x="-34925" y="4495500"/>
            <a:ext cx="619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https://github.com/mwaskom/seaborn-data/blob/master/penguins.csv</a:t>
            </a:r>
            <a:endParaRPr/>
          </a:p>
        </p:txBody>
      </p:sp>
      <p:pic>
        <p:nvPicPr>
          <p:cNvPr id="259" name="Google Shape;259;p34"/>
          <p:cNvPicPr preferRelativeResize="0"/>
          <p:nvPr/>
        </p:nvPicPr>
        <p:blipFill>
          <a:blip r:embed="rId4">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Load data</a:t>
            </a:r>
            <a:endParaRPr/>
          </a:p>
        </p:txBody>
      </p:sp>
      <p:pic>
        <p:nvPicPr>
          <p:cNvPr descr="Picture5.png" id="265" name="Google Shape;265;p35"/>
          <p:cNvPicPr preferRelativeResize="0"/>
          <p:nvPr/>
        </p:nvPicPr>
        <p:blipFill>
          <a:blip r:embed="rId3">
            <a:alphaModFix/>
          </a:blip>
          <a:stretch>
            <a:fillRect/>
          </a:stretch>
        </p:blipFill>
        <p:spPr>
          <a:xfrm>
            <a:off x="360600" y="2126100"/>
            <a:ext cx="7515226" cy="2140001"/>
          </a:xfrm>
          <a:prstGeom prst="rect">
            <a:avLst/>
          </a:prstGeom>
          <a:noFill/>
          <a:ln>
            <a:noFill/>
          </a:ln>
        </p:spPr>
      </p:pic>
      <p:sp>
        <p:nvSpPr>
          <p:cNvPr id="266" name="Google Shape;266;p35"/>
          <p:cNvSpPr txBox="1"/>
          <p:nvPr/>
        </p:nvSpPr>
        <p:spPr>
          <a:xfrm>
            <a:off x="-34925" y="4495500"/>
            <a:ext cx="619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https://github.com/mwaskom/seaborn-data/blob/master/penguins.csv</a:t>
            </a:r>
            <a:endParaRPr/>
          </a:p>
        </p:txBody>
      </p:sp>
      <p:sp>
        <p:nvSpPr>
          <p:cNvPr id="267" name="Google Shape;267;p35"/>
          <p:cNvSpPr txBox="1"/>
          <p:nvPr/>
        </p:nvSpPr>
        <p:spPr>
          <a:xfrm>
            <a:off x="117475" y="1371300"/>
            <a:ext cx="829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Load database from Github repository into the Matlab directory or add the path of the folder with file</a:t>
            </a:r>
            <a:endParaRPr/>
          </a:p>
        </p:txBody>
      </p:sp>
      <p:pic>
        <p:nvPicPr>
          <p:cNvPr id="268" name="Google Shape;268;p35"/>
          <p:cNvPicPr preferRelativeResize="0"/>
          <p:nvPr/>
        </p:nvPicPr>
        <p:blipFill>
          <a:blip r:embed="rId4">
            <a:alphaModFix/>
          </a:blip>
          <a:stretch>
            <a:fillRect/>
          </a:stretch>
        </p:blipFill>
        <p:spPr>
          <a:xfrm>
            <a:off x="8705850" y="0"/>
            <a:ext cx="438150" cy="390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Load and clean data</a:t>
            </a:r>
            <a:endParaRPr/>
          </a:p>
        </p:txBody>
      </p:sp>
      <p:pic>
        <p:nvPicPr>
          <p:cNvPr id="274" name="Google Shape;274;p36"/>
          <p:cNvPicPr preferRelativeResize="0"/>
          <p:nvPr/>
        </p:nvPicPr>
        <p:blipFill>
          <a:blip r:embed="rId3">
            <a:alphaModFix/>
          </a:blip>
          <a:stretch>
            <a:fillRect/>
          </a:stretch>
        </p:blipFill>
        <p:spPr>
          <a:xfrm>
            <a:off x="152400" y="1170125"/>
            <a:ext cx="5857875" cy="438150"/>
          </a:xfrm>
          <a:prstGeom prst="rect">
            <a:avLst/>
          </a:prstGeom>
          <a:noFill/>
          <a:ln>
            <a:noFill/>
          </a:ln>
        </p:spPr>
      </p:pic>
      <p:pic>
        <p:nvPicPr>
          <p:cNvPr id="275" name="Google Shape;275;p36"/>
          <p:cNvPicPr preferRelativeResize="0"/>
          <p:nvPr/>
        </p:nvPicPr>
        <p:blipFill>
          <a:blip r:embed="rId4">
            <a:alphaModFix/>
          </a:blip>
          <a:stretch>
            <a:fillRect/>
          </a:stretch>
        </p:blipFill>
        <p:spPr>
          <a:xfrm>
            <a:off x="210675" y="1684475"/>
            <a:ext cx="5886450" cy="571500"/>
          </a:xfrm>
          <a:prstGeom prst="rect">
            <a:avLst/>
          </a:prstGeom>
          <a:noFill/>
          <a:ln>
            <a:noFill/>
          </a:ln>
        </p:spPr>
      </p:pic>
      <p:pic>
        <p:nvPicPr>
          <p:cNvPr id="276" name="Google Shape;276;p36"/>
          <p:cNvPicPr preferRelativeResize="0"/>
          <p:nvPr/>
        </p:nvPicPr>
        <p:blipFill>
          <a:blip r:embed="rId5">
            <a:alphaModFix/>
          </a:blip>
          <a:stretch>
            <a:fillRect/>
          </a:stretch>
        </p:blipFill>
        <p:spPr>
          <a:xfrm>
            <a:off x="304800" y="2332175"/>
            <a:ext cx="5495925" cy="590550"/>
          </a:xfrm>
          <a:prstGeom prst="rect">
            <a:avLst/>
          </a:prstGeom>
          <a:noFill/>
          <a:ln>
            <a:noFill/>
          </a:ln>
        </p:spPr>
      </p:pic>
      <p:pic>
        <p:nvPicPr>
          <p:cNvPr id="277" name="Google Shape;277;p36"/>
          <p:cNvPicPr preferRelativeResize="0"/>
          <p:nvPr/>
        </p:nvPicPr>
        <p:blipFill>
          <a:blip r:embed="rId6">
            <a:alphaModFix/>
          </a:blip>
          <a:stretch>
            <a:fillRect/>
          </a:stretch>
        </p:blipFill>
        <p:spPr>
          <a:xfrm>
            <a:off x="152400" y="3075125"/>
            <a:ext cx="5524500" cy="800100"/>
          </a:xfrm>
          <a:prstGeom prst="rect">
            <a:avLst/>
          </a:prstGeom>
          <a:noFill/>
          <a:ln>
            <a:noFill/>
          </a:ln>
        </p:spPr>
      </p:pic>
      <p:pic>
        <p:nvPicPr>
          <p:cNvPr id="278" name="Google Shape;278;p36"/>
          <p:cNvPicPr preferRelativeResize="0"/>
          <p:nvPr/>
        </p:nvPicPr>
        <p:blipFill>
          <a:blip r:embed="rId5">
            <a:alphaModFix/>
          </a:blip>
          <a:stretch>
            <a:fillRect/>
          </a:stretch>
        </p:blipFill>
        <p:spPr>
          <a:xfrm>
            <a:off x="304800" y="4008575"/>
            <a:ext cx="5495925" cy="590550"/>
          </a:xfrm>
          <a:prstGeom prst="rect">
            <a:avLst/>
          </a:prstGeom>
          <a:noFill/>
          <a:ln>
            <a:noFill/>
          </a:ln>
        </p:spPr>
      </p:pic>
      <p:pic>
        <p:nvPicPr>
          <p:cNvPr id="279" name="Google Shape;279;p36"/>
          <p:cNvPicPr preferRelativeResize="0"/>
          <p:nvPr/>
        </p:nvPicPr>
        <p:blipFill>
          <a:blip r:embed="rId7">
            <a:alphaModFix/>
          </a:blip>
          <a:stretch>
            <a:fillRect/>
          </a:stretch>
        </p:blipFill>
        <p:spPr>
          <a:xfrm>
            <a:off x="304800" y="4648650"/>
            <a:ext cx="4531500" cy="342450"/>
          </a:xfrm>
          <a:prstGeom prst="rect">
            <a:avLst/>
          </a:prstGeom>
          <a:noFill/>
          <a:ln>
            <a:noFill/>
          </a:ln>
        </p:spPr>
      </p:pic>
      <p:pic>
        <p:nvPicPr>
          <p:cNvPr id="280" name="Google Shape;280;p36"/>
          <p:cNvPicPr preferRelativeResize="0"/>
          <p:nvPr/>
        </p:nvPicPr>
        <p:blipFill>
          <a:blip r:embed="rId8">
            <a:alphaModFix/>
          </a:blip>
          <a:stretch>
            <a:fillRect/>
          </a:stretch>
        </p:blipFill>
        <p:spPr>
          <a:xfrm>
            <a:off x="6249525" y="1170125"/>
            <a:ext cx="2724150" cy="1200150"/>
          </a:xfrm>
          <a:prstGeom prst="rect">
            <a:avLst/>
          </a:prstGeom>
          <a:noFill/>
          <a:ln>
            <a:noFill/>
          </a:ln>
        </p:spPr>
      </p:pic>
      <p:pic>
        <p:nvPicPr>
          <p:cNvPr id="281" name="Google Shape;281;p36"/>
          <p:cNvPicPr preferRelativeResize="0"/>
          <p:nvPr/>
        </p:nvPicPr>
        <p:blipFill>
          <a:blip r:embed="rId9">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Use an App to do the cleaning</a:t>
            </a:r>
            <a:endParaRPr/>
          </a:p>
        </p:txBody>
      </p:sp>
      <p:pic>
        <p:nvPicPr>
          <p:cNvPr id="287" name="Google Shape;287;p37"/>
          <p:cNvPicPr preferRelativeResize="0"/>
          <p:nvPr/>
        </p:nvPicPr>
        <p:blipFill>
          <a:blip r:embed="rId3">
            <a:alphaModFix/>
          </a:blip>
          <a:stretch>
            <a:fillRect/>
          </a:stretch>
        </p:blipFill>
        <p:spPr>
          <a:xfrm>
            <a:off x="77450" y="1100975"/>
            <a:ext cx="8839201" cy="3790548"/>
          </a:xfrm>
          <a:prstGeom prst="rect">
            <a:avLst/>
          </a:prstGeom>
          <a:noFill/>
          <a:ln>
            <a:noFill/>
          </a:ln>
        </p:spPr>
      </p:pic>
      <p:cxnSp>
        <p:nvCxnSpPr>
          <p:cNvPr id="288" name="Google Shape;288;p37"/>
          <p:cNvCxnSpPr/>
          <p:nvPr/>
        </p:nvCxnSpPr>
        <p:spPr>
          <a:xfrm flipH="1">
            <a:off x="4772825" y="1100975"/>
            <a:ext cx="607800" cy="708000"/>
          </a:xfrm>
          <a:prstGeom prst="straightConnector1">
            <a:avLst/>
          </a:prstGeom>
          <a:noFill/>
          <a:ln cap="flat" cmpd="sng" w="9525">
            <a:solidFill>
              <a:schemeClr val="dk2"/>
            </a:solidFill>
            <a:prstDash val="solid"/>
            <a:round/>
            <a:headEnd len="med" w="med" type="none"/>
            <a:tailEnd len="med" w="med" type="triangle"/>
          </a:ln>
        </p:spPr>
      </p:cxnSp>
      <p:pic>
        <p:nvPicPr>
          <p:cNvPr id="289" name="Google Shape;289;p37"/>
          <p:cNvPicPr preferRelativeResize="0"/>
          <p:nvPr/>
        </p:nvPicPr>
        <p:blipFill>
          <a:blip r:embed="rId4">
            <a:alphaModFix/>
          </a:blip>
          <a:stretch>
            <a:fillRect/>
          </a:stretch>
        </p:blipFill>
        <p:spPr>
          <a:xfrm>
            <a:off x="8705850" y="0"/>
            <a:ext cx="438150" cy="390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ru"/>
              <a:t>Visualize the distribution of your data</a:t>
            </a:r>
            <a:endParaRPr/>
          </a:p>
        </p:txBody>
      </p:sp>
      <p:pic>
        <p:nvPicPr>
          <p:cNvPr id="295" name="Google Shape;295;p38"/>
          <p:cNvPicPr preferRelativeResize="0"/>
          <p:nvPr/>
        </p:nvPicPr>
        <p:blipFill>
          <a:blip r:embed="rId3">
            <a:alphaModFix/>
          </a:blip>
          <a:stretch>
            <a:fillRect/>
          </a:stretch>
        </p:blipFill>
        <p:spPr>
          <a:xfrm>
            <a:off x="152400" y="1170125"/>
            <a:ext cx="2695575" cy="638175"/>
          </a:xfrm>
          <a:prstGeom prst="rect">
            <a:avLst/>
          </a:prstGeom>
          <a:noFill/>
          <a:ln>
            <a:noFill/>
          </a:ln>
        </p:spPr>
      </p:pic>
      <p:pic>
        <p:nvPicPr>
          <p:cNvPr id="296" name="Google Shape;296;p38"/>
          <p:cNvPicPr preferRelativeResize="0"/>
          <p:nvPr/>
        </p:nvPicPr>
        <p:blipFill>
          <a:blip r:embed="rId4">
            <a:alphaModFix/>
          </a:blip>
          <a:stretch>
            <a:fillRect/>
          </a:stretch>
        </p:blipFill>
        <p:spPr>
          <a:xfrm>
            <a:off x="152400" y="1704975"/>
            <a:ext cx="7800975" cy="866775"/>
          </a:xfrm>
          <a:prstGeom prst="rect">
            <a:avLst/>
          </a:prstGeom>
          <a:noFill/>
          <a:ln>
            <a:noFill/>
          </a:ln>
        </p:spPr>
      </p:pic>
      <p:pic>
        <p:nvPicPr>
          <p:cNvPr id="297" name="Google Shape;297;p38"/>
          <p:cNvPicPr preferRelativeResize="0"/>
          <p:nvPr/>
        </p:nvPicPr>
        <p:blipFill>
          <a:blip r:embed="rId5">
            <a:alphaModFix/>
          </a:blip>
          <a:stretch>
            <a:fillRect/>
          </a:stretch>
        </p:blipFill>
        <p:spPr>
          <a:xfrm>
            <a:off x="311700" y="2640900"/>
            <a:ext cx="3143294" cy="2266950"/>
          </a:xfrm>
          <a:prstGeom prst="rect">
            <a:avLst/>
          </a:prstGeom>
          <a:noFill/>
          <a:ln>
            <a:noFill/>
          </a:ln>
        </p:spPr>
      </p:pic>
      <p:pic>
        <p:nvPicPr>
          <p:cNvPr id="298" name="Google Shape;298;p38"/>
          <p:cNvPicPr preferRelativeResize="0"/>
          <p:nvPr/>
        </p:nvPicPr>
        <p:blipFill>
          <a:blip r:embed="rId6">
            <a:alphaModFix/>
          </a:blip>
          <a:stretch>
            <a:fillRect/>
          </a:stretch>
        </p:blipFill>
        <p:spPr>
          <a:xfrm>
            <a:off x="3607394" y="2724150"/>
            <a:ext cx="5172075" cy="981075"/>
          </a:xfrm>
          <a:prstGeom prst="rect">
            <a:avLst/>
          </a:prstGeom>
          <a:noFill/>
          <a:ln>
            <a:noFill/>
          </a:ln>
        </p:spPr>
      </p:pic>
      <p:pic>
        <p:nvPicPr>
          <p:cNvPr id="299" name="Google Shape;299;p38"/>
          <p:cNvPicPr preferRelativeResize="0"/>
          <p:nvPr/>
        </p:nvPicPr>
        <p:blipFill>
          <a:blip r:embed="rId7">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ru"/>
              <a:t>Visualize the data</a:t>
            </a:r>
            <a:endParaRPr/>
          </a:p>
        </p:txBody>
      </p:sp>
      <p:pic>
        <p:nvPicPr>
          <p:cNvPr id="305" name="Google Shape;305;p39"/>
          <p:cNvPicPr preferRelativeResize="0"/>
          <p:nvPr/>
        </p:nvPicPr>
        <p:blipFill>
          <a:blip r:embed="rId3">
            <a:alphaModFix/>
          </a:blip>
          <a:stretch>
            <a:fillRect/>
          </a:stretch>
        </p:blipFill>
        <p:spPr>
          <a:xfrm>
            <a:off x="152400" y="1170125"/>
            <a:ext cx="6591300" cy="1666875"/>
          </a:xfrm>
          <a:prstGeom prst="rect">
            <a:avLst/>
          </a:prstGeom>
          <a:noFill/>
          <a:ln>
            <a:noFill/>
          </a:ln>
        </p:spPr>
      </p:pic>
      <p:pic>
        <p:nvPicPr>
          <p:cNvPr id="306" name="Google Shape;306;p39"/>
          <p:cNvPicPr preferRelativeResize="0"/>
          <p:nvPr/>
        </p:nvPicPr>
        <p:blipFill>
          <a:blip r:embed="rId4">
            <a:alphaModFix/>
          </a:blip>
          <a:stretch>
            <a:fillRect/>
          </a:stretch>
        </p:blipFill>
        <p:spPr>
          <a:xfrm>
            <a:off x="5370275" y="2078750"/>
            <a:ext cx="3662976" cy="2957400"/>
          </a:xfrm>
          <a:prstGeom prst="rect">
            <a:avLst/>
          </a:prstGeom>
          <a:noFill/>
          <a:ln>
            <a:noFill/>
          </a:ln>
        </p:spPr>
      </p:pic>
      <p:sp>
        <p:nvSpPr>
          <p:cNvPr id="307" name="Google Shape;307;p39"/>
          <p:cNvSpPr txBox="1"/>
          <p:nvPr/>
        </p:nvSpPr>
        <p:spPr>
          <a:xfrm>
            <a:off x="249825" y="2989400"/>
            <a:ext cx="4597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solidFill>
                  <a:schemeClr val="dk1"/>
                </a:solidFill>
              </a:rPr>
              <a:t>The </a:t>
            </a:r>
            <a:r>
              <a:rPr lang="ru" sz="1100">
                <a:solidFill>
                  <a:srgbClr val="188038"/>
                </a:solidFill>
                <a:latin typeface="Roboto Mono"/>
                <a:ea typeface="Roboto Mono"/>
                <a:cs typeface="Roboto Mono"/>
                <a:sym typeface="Roboto Mono"/>
              </a:rPr>
              <a:t>SeriesIndex</a:t>
            </a:r>
            <a:r>
              <a:rPr lang="ru" sz="1100">
                <a:solidFill>
                  <a:schemeClr val="dk1"/>
                </a:solidFill>
              </a:rPr>
              <a:t> property automatically assigns colors, line styles, and markers to different data series plotted on the same axes based on MATLAB's default or current color order and style order settings.</a:t>
            </a:r>
            <a:endParaRPr/>
          </a:p>
        </p:txBody>
      </p:sp>
      <p:pic>
        <p:nvPicPr>
          <p:cNvPr id="308" name="Google Shape;308;p39"/>
          <p:cNvPicPr preferRelativeResize="0"/>
          <p:nvPr/>
        </p:nvPicPr>
        <p:blipFill>
          <a:blip r:embed="rId5">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I prefer boxplots</a:t>
            </a:r>
            <a:endParaRPr/>
          </a:p>
        </p:txBody>
      </p:sp>
      <p:pic>
        <p:nvPicPr>
          <p:cNvPr id="314" name="Google Shape;314;p40"/>
          <p:cNvPicPr preferRelativeResize="0"/>
          <p:nvPr/>
        </p:nvPicPr>
        <p:blipFill>
          <a:blip r:embed="rId3">
            <a:alphaModFix/>
          </a:blip>
          <a:stretch>
            <a:fillRect/>
          </a:stretch>
        </p:blipFill>
        <p:spPr>
          <a:xfrm>
            <a:off x="152400" y="1170125"/>
            <a:ext cx="4762500" cy="800100"/>
          </a:xfrm>
          <a:prstGeom prst="rect">
            <a:avLst/>
          </a:prstGeom>
          <a:noFill/>
          <a:ln>
            <a:noFill/>
          </a:ln>
        </p:spPr>
      </p:pic>
      <p:pic>
        <p:nvPicPr>
          <p:cNvPr id="315" name="Google Shape;315;p40"/>
          <p:cNvPicPr preferRelativeResize="0"/>
          <p:nvPr/>
        </p:nvPicPr>
        <p:blipFill>
          <a:blip r:embed="rId4">
            <a:alphaModFix/>
          </a:blip>
          <a:stretch>
            <a:fillRect/>
          </a:stretch>
        </p:blipFill>
        <p:spPr>
          <a:xfrm>
            <a:off x="1060150" y="2122625"/>
            <a:ext cx="4390077" cy="2868475"/>
          </a:xfrm>
          <a:prstGeom prst="rect">
            <a:avLst/>
          </a:prstGeom>
          <a:noFill/>
          <a:ln>
            <a:noFill/>
          </a:ln>
        </p:spPr>
      </p:pic>
      <p:pic>
        <p:nvPicPr>
          <p:cNvPr id="316" name="Google Shape;316;p40"/>
          <p:cNvPicPr preferRelativeResize="0"/>
          <p:nvPr/>
        </p:nvPicPr>
        <p:blipFill>
          <a:blip r:embed="rId5">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Hypothesis testing</a:t>
            </a:r>
            <a:endParaRPr/>
          </a:p>
        </p:txBody>
      </p:sp>
      <p:sp>
        <p:nvSpPr>
          <p:cNvPr id="322" name="Google Shape;322;p41"/>
          <p:cNvSpPr txBox="1"/>
          <p:nvPr/>
        </p:nvSpPr>
        <p:spPr>
          <a:xfrm>
            <a:off x="0" y="1143000"/>
            <a:ext cx="7827600" cy="346200"/>
          </a:xfrm>
          <a:prstGeom prst="rect">
            <a:avLst/>
          </a:prstGeom>
          <a:noFill/>
          <a:ln>
            <a:noFill/>
          </a:ln>
        </p:spPr>
        <p:txBody>
          <a:bodyPr anchorCtr="0" anchor="t" bIns="91425" lIns="91425" spcFirstLastPara="1" rIns="91425" wrap="square" tIns="91425">
            <a:spAutoFit/>
          </a:bodyPr>
          <a:lstStyle/>
          <a:p>
            <a:pPr indent="0" lvl="0" marL="0" rtl="0" algn="l">
              <a:lnSpc>
                <a:spcPct val="143181"/>
              </a:lnSpc>
              <a:spcBef>
                <a:spcPts val="200"/>
              </a:spcBef>
              <a:spcAft>
                <a:spcPts val="700"/>
              </a:spcAft>
              <a:buNone/>
            </a:pPr>
            <a:r>
              <a:rPr b="1" i="1" lang="ru" sz="1050">
                <a:solidFill>
                  <a:schemeClr val="accent2"/>
                </a:solidFill>
              </a:rPr>
              <a:t>Hypothesis 1: Male penguins have significantly </a:t>
            </a:r>
            <a:r>
              <a:rPr b="1" i="1" lang="ru" sz="1050" u="sng">
                <a:solidFill>
                  <a:schemeClr val="accent2"/>
                </a:solidFill>
              </a:rPr>
              <a:t>higher</a:t>
            </a:r>
            <a:r>
              <a:rPr b="1" i="1" lang="ru" sz="1050">
                <a:solidFill>
                  <a:schemeClr val="accent2"/>
                </a:solidFill>
              </a:rPr>
              <a:t> body mass than female penguins.</a:t>
            </a:r>
            <a:endParaRPr b="1" i="1" sz="1050">
              <a:solidFill>
                <a:schemeClr val="accent2"/>
              </a:solidFill>
            </a:endParaRPr>
          </a:p>
        </p:txBody>
      </p:sp>
      <p:pic>
        <p:nvPicPr>
          <p:cNvPr id="323" name="Google Shape;323;p41"/>
          <p:cNvPicPr preferRelativeResize="0"/>
          <p:nvPr/>
        </p:nvPicPr>
        <p:blipFill>
          <a:blip r:embed="rId3">
            <a:alphaModFix/>
          </a:blip>
          <a:stretch>
            <a:fillRect/>
          </a:stretch>
        </p:blipFill>
        <p:spPr>
          <a:xfrm>
            <a:off x="152400" y="1641600"/>
            <a:ext cx="5505450" cy="619125"/>
          </a:xfrm>
          <a:prstGeom prst="rect">
            <a:avLst/>
          </a:prstGeom>
          <a:noFill/>
          <a:ln>
            <a:noFill/>
          </a:ln>
        </p:spPr>
      </p:pic>
      <p:sp>
        <p:nvSpPr>
          <p:cNvPr id="324" name="Google Shape;324;p41"/>
          <p:cNvSpPr txBox="1"/>
          <p:nvPr/>
        </p:nvSpPr>
        <p:spPr>
          <a:xfrm>
            <a:off x="99075" y="2336450"/>
            <a:ext cx="8669700" cy="2071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800"/>
              </a:spcBef>
              <a:spcAft>
                <a:spcPts val="0"/>
              </a:spcAft>
              <a:buNone/>
            </a:pPr>
            <a:r>
              <a:rPr b="1" lang="ru" sz="1050">
                <a:solidFill>
                  <a:schemeClr val="accent2"/>
                </a:solidFill>
              </a:rPr>
              <a:t>I</a:t>
            </a:r>
            <a:r>
              <a:rPr b="1" lang="ru" sz="1050">
                <a:solidFill>
                  <a:schemeClr val="accent2"/>
                </a:solidFill>
              </a:rPr>
              <a:t>nitial hypothesis = alternate hypothesis</a:t>
            </a:r>
            <a:r>
              <a:rPr lang="ru" sz="1050">
                <a:solidFill>
                  <a:schemeClr val="accent2"/>
                </a:solidFill>
              </a:rPr>
              <a:t>, which in this case is that:</a:t>
            </a:r>
            <a:endParaRPr sz="1050">
              <a:solidFill>
                <a:schemeClr val="accent2"/>
              </a:solidFill>
            </a:endParaRPr>
          </a:p>
          <a:p>
            <a:pPr indent="0" lvl="0" marL="0" rtl="0" algn="l">
              <a:lnSpc>
                <a:spcPct val="150000"/>
              </a:lnSpc>
              <a:spcBef>
                <a:spcPts val="800"/>
              </a:spcBef>
              <a:spcAft>
                <a:spcPts val="0"/>
              </a:spcAft>
              <a:buNone/>
            </a:pPr>
            <a:r>
              <a:rPr lang="ru" sz="1050">
                <a:solidFill>
                  <a:schemeClr val="accent2"/>
                </a:solidFill>
              </a:rPr>
              <a:t>males have a significantly higher body mass than females.  </a:t>
            </a:r>
            <a:endParaRPr sz="1050">
              <a:solidFill>
                <a:schemeClr val="accent2"/>
              </a:solidFill>
            </a:endParaRPr>
          </a:p>
          <a:p>
            <a:pPr indent="0" lvl="0" marL="0" rtl="0" algn="l">
              <a:lnSpc>
                <a:spcPct val="150000"/>
              </a:lnSpc>
              <a:spcBef>
                <a:spcPts val="800"/>
              </a:spcBef>
              <a:spcAft>
                <a:spcPts val="0"/>
              </a:spcAft>
              <a:buNone/>
            </a:pPr>
            <a:r>
              <a:rPr b="1" lang="ru" sz="1050">
                <a:solidFill>
                  <a:schemeClr val="accent2"/>
                </a:solidFill>
              </a:rPr>
              <a:t>Null</a:t>
            </a:r>
            <a:r>
              <a:rPr lang="ru" sz="1050">
                <a:solidFill>
                  <a:schemeClr val="accent2"/>
                </a:solidFill>
              </a:rPr>
              <a:t> </a:t>
            </a:r>
            <a:r>
              <a:rPr b="1" lang="ru" sz="1050">
                <a:solidFill>
                  <a:schemeClr val="accent2"/>
                </a:solidFill>
              </a:rPr>
              <a:t>hypothesis = </a:t>
            </a:r>
            <a:r>
              <a:rPr lang="ru" sz="1050">
                <a:solidFill>
                  <a:schemeClr val="accent2"/>
                </a:solidFill>
              </a:rPr>
              <a:t>no effect or relationship between the variables you are looking at. In this case, it would say that:</a:t>
            </a:r>
            <a:endParaRPr sz="1050">
              <a:solidFill>
                <a:schemeClr val="accent2"/>
              </a:solidFill>
            </a:endParaRPr>
          </a:p>
          <a:p>
            <a:pPr indent="0" lvl="0" marL="0" rtl="0" algn="l">
              <a:lnSpc>
                <a:spcPct val="150000"/>
              </a:lnSpc>
              <a:spcBef>
                <a:spcPts val="800"/>
              </a:spcBef>
              <a:spcAft>
                <a:spcPts val="0"/>
              </a:spcAft>
              <a:buNone/>
            </a:pPr>
            <a:r>
              <a:rPr lang="ru" sz="1050">
                <a:solidFill>
                  <a:schemeClr val="accent2"/>
                </a:solidFill>
              </a:rPr>
              <a:t>there is </a:t>
            </a:r>
            <a:r>
              <a:rPr i="1" lang="ru" sz="1050">
                <a:solidFill>
                  <a:schemeClr val="accent2"/>
                </a:solidFill>
              </a:rPr>
              <a:t>no difference in the weights of male and female penguins. </a:t>
            </a:r>
            <a:endParaRPr i="1" sz="1050">
              <a:solidFill>
                <a:schemeClr val="accent2"/>
              </a:solidFill>
            </a:endParaRPr>
          </a:p>
          <a:p>
            <a:pPr indent="0" lvl="0" marL="0" rtl="0" algn="l">
              <a:lnSpc>
                <a:spcPct val="150000"/>
              </a:lnSpc>
              <a:spcBef>
                <a:spcPts val="800"/>
              </a:spcBef>
              <a:spcAft>
                <a:spcPts val="0"/>
              </a:spcAft>
              <a:buNone/>
            </a:pPr>
            <a:r>
              <a:t/>
            </a:r>
            <a:endParaRPr sz="1050">
              <a:solidFill>
                <a:schemeClr val="accent2"/>
              </a:solidFill>
            </a:endParaRPr>
          </a:p>
          <a:p>
            <a:pPr indent="0" lvl="0" marL="0" rtl="0" algn="l">
              <a:lnSpc>
                <a:spcPct val="150000"/>
              </a:lnSpc>
              <a:spcBef>
                <a:spcPts val="800"/>
              </a:spcBef>
              <a:spcAft>
                <a:spcPts val="700"/>
              </a:spcAft>
              <a:buNone/>
            </a:pPr>
            <a:r>
              <a:rPr b="1" lang="ru" sz="1050">
                <a:solidFill>
                  <a:schemeClr val="accent2"/>
                </a:solidFill>
              </a:rPr>
              <a:t>If we want to say the male and female weights are significantly different, we have to prove the null hypothesis is wrong (or 'reject' it).</a:t>
            </a:r>
            <a:endParaRPr b="1" sz="1050">
              <a:solidFill>
                <a:schemeClr val="accent2"/>
              </a:solidFill>
            </a:endParaRPr>
          </a:p>
        </p:txBody>
      </p:sp>
      <p:pic>
        <p:nvPicPr>
          <p:cNvPr id="325" name="Google Shape;325;p41"/>
          <p:cNvPicPr preferRelativeResize="0"/>
          <p:nvPr/>
        </p:nvPicPr>
        <p:blipFill>
          <a:blip r:embed="rId4">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Visualization</a:t>
            </a:r>
            <a:endParaRPr/>
          </a:p>
        </p:txBody>
      </p:sp>
      <p:pic>
        <p:nvPicPr>
          <p:cNvPr id="331" name="Google Shape;331;p42"/>
          <p:cNvPicPr preferRelativeResize="0"/>
          <p:nvPr/>
        </p:nvPicPr>
        <p:blipFill>
          <a:blip r:embed="rId3">
            <a:alphaModFix/>
          </a:blip>
          <a:stretch>
            <a:fillRect/>
          </a:stretch>
        </p:blipFill>
        <p:spPr>
          <a:xfrm>
            <a:off x="152400" y="1170125"/>
            <a:ext cx="7381875" cy="914400"/>
          </a:xfrm>
          <a:prstGeom prst="rect">
            <a:avLst/>
          </a:prstGeom>
          <a:noFill/>
          <a:ln>
            <a:noFill/>
          </a:ln>
        </p:spPr>
      </p:pic>
      <p:sp>
        <p:nvSpPr>
          <p:cNvPr id="332" name="Google Shape;332;p42"/>
          <p:cNvSpPr txBox="1"/>
          <p:nvPr/>
        </p:nvSpPr>
        <p:spPr>
          <a:xfrm>
            <a:off x="228600" y="2103200"/>
            <a:ext cx="4079100" cy="2696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800"/>
              </a:spcBef>
              <a:spcAft>
                <a:spcPts val="0"/>
              </a:spcAft>
              <a:buNone/>
            </a:pPr>
            <a:r>
              <a:rPr b="1" lang="ru" sz="1050">
                <a:solidFill>
                  <a:schemeClr val="accent2"/>
                </a:solidFill>
              </a:rPr>
              <a:t>t-test</a:t>
            </a:r>
            <a:r>
              <a:rPr lang="ru" sz="1050">
                <a:solidFill>
                  <a:schemeClr val="accent2"/>
                </a:solidFill>
              </a:rPr>
              <a:t> calculates </a:t>
            </a:r>
            <a:r>
              <a:rPr b="1" lang="ru" sz="1050">
                <a:solidFill>
                  <a:schemeClr val="accent2"/>
                </a:solidFill>
              </a:rPr>
              <a:t>how likely it is that the two distributions you are comparing are from one indistinguishable distribution or population.</a:t>
            </a:r>
            <a:endParaRPr sz="1050">
              <a:solidFill>
                <a:schemeClr val="accent2"/>
              </a:solidFill>
            </a:endParaRPr>
          </a:p>
          <a:p>
            <a:pPr indent="0" lvl="0" marL="0" rtl="0" algn="l">
              <a:lnSpc>
                <a:spcPct val="150000"/>
              </a:lnSpc>
              <a:spcBef>
                <a:spcPts val="800"/>
              </a:spcBef>
              <a:spcAft>
                <a:spcPts val="0"/>
              </a:spcAft>
              <a:buNone/>
            </a:pPr>
            <a:r>
              <a:t/>
            </a:r>
            <a:endParaRPr sz="1050">
              <a:solidFill>
                <a:schemeClr val="accent2"/>
              </a:solidFill>
            </a:endParaRPr>
          </a:p>
          <a:p>
            <a:pPr indent="0" lvl="0" marL="0" rtl="0" algn="l">
              <a:lnSpc>
                <a:spcPct val="150000"/>
              </a:lnSpc>
              <a:spcBef>
                <a:spcPts val="800"/>
              </a:spcBef>
              <a:spcAft>
                <a:spcPts val="0"/>
              </a:spcAft>
              <a:buNone/>
            </a:pPr>
            <a:r>
              <a:rPr lang="ru" sz="1050">
                <a:solidFill>
                  <a:schemeClr val="accent2"/>
                </a:solidFill>
              </a:rPr>
              <a:t>In our case, if the likelihood of your data being from one indistinguishable group is greater than 5%, the null hypothesis is accepted.</a:t>
            </a:r>
            <a:endParaRPr sz="1050">
              <a:solidFill>
                <a:schemeClr val="accent2"/>
              </a:solidFill>
            </a:endParaRPr>
          </a:p>
          <a:p>
            <a:pPr indent="0" lvl="0" marL="0" rtl="0" algn="l">
              <a:lnSpc>
                <a:spcPct val="150000"/>
              </a:lnSpc>
              <a:spcBef>
                <a:spcPts val="800"/>
              </a:spcBef>
              <a:spcAft>
                <a:spcPts val="0"/>
              </a:spcAft>
              <a:buNone/>
            </a:pPr>
            <a:r>
              <a:t/>
            </a:r>
            <a:endParaRPr sz="1050">
              <a:solidFill>
                <a:schemeClr val="accent2"/>
              </a:solidFill>
            </a:endParaRPr>
          </a:p>
          <a:p>
            <a:pPr indent="0" lvl="0" marL="0" rtl="0" algn="l">
              <a:lnSpc>
                <a:spcPct val="150000"/>
              </a:lnSpc>
              <a:spcBef>
                <a:spcPts val="800"/>
              </a:spcBef>
              <a:spcAft>
                <a:spcPts val="700"/>
              </a:spcAft>
              <a:buNone/>
            </a:pPr>
            <a:r>
              <a:rPr lang="ru" sz="1050">
                <a:solidFill>
                  <a:schemeClr val="accent2"/>
                </a:solidFill>
              </a:rPr>
              <a:t>“Likelihood” is what?</a:t>
            </a:r>
            <a:endParaRPr sz="1050">
              <a:solidFill>
                <a:schemeClr val="accent2"/>
              </a:solidFill>
            </a:endParaRPr>
          </a:p>
        </p:txBody>
      </p:sp>
      <p:pic>
        <p:nvPicPr>
          <p:cNvPr id="333" name="Google Shape;333;p42"/>
          <p:cNvPicPr preferRelativeResize="0"/>
          <p:nvPr/>
        </p:nvPicPr>
        <p:blipFill>
          <a:blip r:embed="rId4">
            <a:alphaModFix/>
          </a:blip>
          <a:stretch>
            <a:fillRect/>
          </a:stretch>
        </p:blipFill>
        <p:spPr>
          <a:xfrm>
            <a:off x="4307688" y="1760813"/>
            <a:ext cx="4524375" cy="3248025"/>
          </a:xfrm>
          <a:prstGeom prst="rect">
            <a:avLst/>
          </a:prstGeom>
          <a:noFill/>
          <a:ln>
            <a:noFill/>
          </a:ln>
        </p:spPr>
      </p:pic>
      <p:pic>
        <p:nvPicPr>
          <p:cNvPr id="334" name="Google Shape;334;p42"/>
          <p:cNvPicPr preferRelativeResize="0"/>
          <p:nvPr/>
        </p:nvPicPr>
        <p:blipFill>
          <a:blip r:embed="rId5">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Testing hypothesis</a:t>
            </a:r>
            <a:endParaRPr/>
          </a:p>
        </p:txBody>
      </p:sp>
      <p:pic>
        <p:nvPicPr>
          <p:cNvPr id="340" name="Google Shape;340;p43"/>
          <p:cNvPicPr preferRelativeResize="0"/>
          <p:nvPr/>
        </p:nvPicPr>
        <p:blipFill>
          <a:blip r:embed="rId3">
            <a:alphaModFix/>
          </a:blip>
          <a:stretch>
            <a:fillRect/>
          </a:stretch>
        </p:blipFill>
        <p:spPr>
          <a:xfrm>
            <a:off x="152400" y="1170125"/>
            <a:ext cx="5105400" cy="485775"/>
          </a:xfrm>
          <a:prstGeom prst="rect">
            <a:avLst/>
          </a:prstGeom>
          <a:noFill/>
          <a:ln>
            <a:noFill/>
          </a:ln>
        </p:spPr>
      </p:pic>
      <p:sp>
        <p:nvSpPr>
          <p:cNvPr id="341" name="Google Shape;341;p43"/>
          <p:cNvSpPr txBox="1"/>
          <p:nvPr/>
        </p:nvSpPr>
        <p:spPr>
          <a:xfrm>
            <a:off x="152400" y="1828800"/>
            <a:ext cx="8470200" cy="34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800"/>
              </a:spcBef>
              <a:spcAft>
                <a:spcPts val="700"/>
              </a:spcAft>
              <a:buNone/>
            </a:pPr>
            <a:r>
              <a:rPr lang="ru" sz="1050">
                <a:solidFill>
                  <a:schemeClr val="accent2"/>
                </a:solidFill>
              </a:rPr>
              <a:t>W</a:t>
            </a:r>
            <a:r>
              <a:rPr lang="ru" sz="1050">
                <a:solidFill>
                  <a:schemeClr val="accent2"/>
                </a:solidFill>
              </a:rPr>
              <a:t>eight differences between male and female penguins are statistically significant.</a:t>
            </a:r>
            <a:endParaRPr sz="1050">
              <a:solidFill>
                <a:schemeClr val="accent2"/>
              </a:solidFill>
            </a:endParaRPr>
          </a:p>
        </p:txBody>
      </p:sp>
      <p:sp>
        <p:nvSpPr>
          <p:cNvPr id="342" name="Google Shape;342;p43"/>
          <p:cNvSpPr txBox="1"/>
          <p:nvPr/>
        </p:nvSpPr>
        <p:spPr>
          <a:xfrm>
            <a:off x="152400" y="3572850"/>
            <a:ext cx="7326900" cy="34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00"/>
              </a:spcBef>
              <a:spcAft>
                <a:spcPts val="700"/>
              </a:spcAft>
              <a:buNone/>
            </a:pPr>
            <a:r>
              <a:rPr b="1" i="1" lang="ru" sz="1050">
                <a:solidFill>
                  <a:schemeClr val="accent2"/>
                </a:solidFill>
              </a:rPr>
              <a:t>Hypothesis 2: Males have significantly longer bills than females.</a:t>
            </a:r>
            <a:endParaRPr b="1" i="1" sz="1050">
              <a:solidFill>
                <a:schemeClr val="accent2"/>
              </a:solidFill>
            </a:endParaRPr>
          </a:p>
        </p:txBody>
      </p:sp>
      <p:pic>
        <p:nvPicPr>
          <p:cNvPr id="343" name="Google Shape;343;p43"/>
          <p:cNvPicPr preferRelativeResize="0"/>
          <p:nvPr/>
        </p:nvPicPr>
        <p:blipFill>
          <a:blip r:embed="rId4">
            <a:alphaModFix/>
          </a:blip>
          <a:stretch>
            <a:fillRect/>
          </a:stretch>
        </p:blipFill>
        <p:spPr>
          <a:xfrm>
            <a:off x="152400" y="2327400"/>
            <a:ext cx="5924550" cy="552450"/>
          </a:xfrm>
          <a:prstGeom prst="rect">
            <a:avLst/>
          </a:prstGeom>
          <a:noFill/>
          <a:ln>
            <a:noFill/>
          </a:ln>
        </p:spPr>
      </p:pic>
      <p:sp>
        <p:nvSpPr>
          <p:cNvPr id="344" name="Google Shape;344;p43"/>
          <p:cNvSpPr txBox="1"/>
          <p:nvPr/>
        </p:nvSpPr>
        <p:spPr>
          <a:xfrm>
            <a:off x="152400" y="2971800"/>
            <a:ext cx="8470200" cy="34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800"/>
              </a:spcBef>
              <a:spcAft>
                <a:spcPts val="700"/>
              </a:spcAft>
              <a:buNone/>
            </a:pPr>
            <a:r>
              <a:rPr lang="ru" sz="1050">
                <a:solidFill>
                  <a:schemeClr val="accent2"/>
                </a:solidFill>
              </a:rPr>
              <a:t>Weight of male penguins is significantly higher than for female.</a:t>
            </a:r>
            <a:endParaRPr sz="1050">
              <a:solidFill>
                <a:schemeClr val="accent2"/>
              </a:solidFill>
            </a:endParaRPr>
          </a:p>
        </p:txBody>
      </p:sp>
      <p:pic>
        <p:nvPicPr>
          <p:cNvPr id="345" name="Google Shape;345;p43"/>
          <p:cNvPicPr preferRelativeResize="0"/>
          <p:nvPr/>
        </p:nvPicPr>
        <p:blipFill>
          <a:blip r:embed="rId5">
            <a:alphaModFix/>
          </a:blip>
          <a:stretch>
            <a:fillRect/>
          </a:stretch>
        </p:blipFill>
        <p:spPr>
          <a:xfrm>
            <a:off x="152400" y="4071450"/>
            <a:ext cx="6467475" cy="552450"/>
          </a:xfrm>
          <a:prstGeom prst="rect">
            <a:avLst/>
          </a:prstGeom>
          <a:noFill/>
          <a:ln>
            <a:noFill/>
          </a:ln>
        </p:spPr>
      </p:pic>
      <p:pic>
        <p:nvPicPr>
          <p:cNvPr id="346" name="Google Shape;346;p43"/>
          <p:cNvPicPr preferRelativeResize="0"/>
          <p:nvPr/>
        </p:nvPicPr>
        <p:blipFill>
          <a:blip r:embed="rId6">
            <a:alphaModFix/>
          </a:blip>
          <a:stretch>
            <a:fillRect/>
          </a:stretch>
        </p:blipFill>
        <p:spPr>
          <a:xfrm>
            <a:off x="8705850" y="0"/>
            <a:ext cx="438150" cy="390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HomeWork#1, use </a:t>
            </a:r>
            <a:r>
              <a:rPr lang="ru" sz="1466"/>
              <a:t>https://github.com/mwaskom/seaborn-data/blob/master/penguins.csv</a:t>
            </a:r>
            <a:endParaRPr sz="1466"/>
          </a:p>
          <a:p>
            <a:pPr indent="0" lvl="0" marL="0" rtl="0" algn="l">
              <a:spcBef>
                <a:spcPts val="0"/>
              </a:spcBef>
              <a:spcAft>
                <a:spcPts val="0"/>
              </a:spcAft>
              <a:buNone/>
            </a:pPr>
            <a:r>
              <a:t/>
            </a:r>
            <a:endParaRPr/>
          </a:p>
        </p:txBody>
      </p:sp>
      <p:sp>
        <p:nvSpPr>
          <p:cNvPr id="352" name="Google Shape;35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lnSpc>
                <a:spcPct val="143181"/>
              </a:lnSpc>
              <a:spcBef>
                <a:spcPts val="200"/>
              </a:spcBef>
              <a:spcAft>
                <a:spcPts val="0"/>
              </a:spcAft>
              <a:buNone/>
            </a:pPr>
            <a:r>
              <a:rPr b="1" lang="ru" sz="1100">
                <a:solidFill>
                  <a:schemeClr val="dk1"/>
                </a:solidFill>
              </a:rPr>
              <a:t>Visualization</a:t>
            </a:r>
            <a:endParaRPr b="1" sz="1100">
              <a:solidFill>
                <a:schemeClr val="dk1"/>
              </a:solidFill>
            </a:endParaRPr>
          </a:p>
          <a:p>
            <a:pPr indent="-298450" lvl="0" marL="457200" rtl="0" algn="l">
              <a:lnSpc>
                <a:spcPct val="143181"/>
              </a:lnSpc>
              <a:spcBef>
                <a:spcPts val="700"/>
              </a:spcBef>
              <a:spcAft>
                <a:spcPts val="0"/>
              </a:spcAft>
              <a:buClr>
                <a:schemeClr val="dk1"/>
              </a:buClr>
              <a:buSzPts val="1100"/>
              <a:buAutoNum type="arabicParenR"/>
            </a:pPr>
            <a:r>
              <a:rPr lang="ru" sz="1100">
                <a:solidFill>
                  <a:schemeClr val="dk1"/>
                </a:solidFill>
              </a:rPr>
              <a:t>Plot the </a:t>
            </a:r>
            <a:r>
              <a:rPr b="1" lang="ru" sz="1100">
                <a:solidFill>
                  <a:schemeClr val="dk1"/>
                </a:solidFill>
              </a:rPr>
              <a:t>histogram</a:t>
            </a:r>
            <a:r>
              <a:rPr lang="ru" sz="1100">
                <a:solidFill>
                  <a:schemeClr val="dk1"/>
                </a:solidFill>
              </a:rPr>
              <a:t> for Chinstrap body mass yourself, using Series Index 2 for color, with 0.5 transparency.</a:t>
            </a:r>
            <a:endParaRPr sz="1100">
              <a:solidFill>
                <a:schemeClr val="dk1"/>
              </a:solidFill>
            </a:endParaRPr>
          </a:p>
          <a:p>
            <a:pPr indent="-298450" lvl="0" marL="457200" rtl="0" algn="l">
              <a:lnSpc>
                <a:spcPct val="143181"/>
              </a:lnSpc>
              <a:spcBef>
                <a:spcPts val="0"/>
              </a:spcBef>
              <a:spcAft>
                <a:spcPts val="0"/>
              </a:spcAft>
              <a:buClr>
                <a:schemeClr val="dk1"/>
              </a:buClr>
              <a:buSzPts val="1100"/>
              <a:buAutoNum type="arabicParenR"/>
            </a:pPr>
            <a:r>
              <a:rPr lang="ru" sz="1100">
                <a:solidFill>
                  <a:schemeClr val="dk1"/>
                </a:solidFill>
              </a:rPr>
              <a:t>Do the same for Adelie body mass (the same figure), with Series Index 4 for color and 0.5 transparency.</a:t>
            </a:r>
            <a:endParaRPr sz="1100">
              <a:solidFill>
                <a:schemeClr val="dk1"/>
              </a:solidFill>
            </a:endParaRPr>
          </a:p>
          <a:p>
            <a:pPr indent="-298450" lvl="0" marL="457200" rtl="0" algn="l">
              <a:lnSpc>
                <a:spcPct val="143181"/>
              </a:lnSpc>
              <a:spcBef>
                <a:spcPts val="0"/>
              </a:spcBef>
              <a:spcAft>
                <a:spcPts val="0"/>
              </a:spcAft>
              <a:buClr>
                <a:schemeClr val="dk1"/>
              </a:buClr>
              <a:buSzPts val="1100"/>
              <a:buAutoNum type="arabicParenR"/>
            </a:pPr>
            <a:r>
              <a:rPr lang="ru" sz="1100">
                <a:solidFill>
                  <a:schemeClr val="dk1"/>
                </a:solidFill>
              </a:rPr>
              <a:t>Turn the plotting hold off.</a:t>
            </a:r>
            <a:endParaRPr sz="1100">
              <a:solidFill>
                <a:schemeClr val="dk1"/>
              </a:solidFill>
            </a:endParaRPr>
          </a:p>
          <a:p>
            <a:pPr indent="-298450" lvl="0" marL="457200" rtl="0" algn="l">
              <a:lnSpc>
                <a:spcPct val="143181"/>
              </a:lnSpc>
              <a:spcBef>
                <a:spcPts val="0"/>
              </a:spcBef>
              <a:spcAft>
                <a:spcPts val="0"/>
              </a:spcAft>
              <a:buClr>
                <a:schemeClr val="dk1"/>
              </a:buClr>
              <a:buSzPts val="1100"/>
              <a:buAutoNum type="arabicParenR"/>
            </a:pPr>
            <a:r>
              <a:rPr lang="ru" sz="1100">
                <a:solidFill>
                  <a:schemeClr val="dk1"/>
                </a:solidFill>
              </a:rPr>
              <a:t>Add x and y labels to your chart, as well as a relevant title.</a:t>
            </a:r>
            <a:endParaRPr sz="1100">
              <a:solidFill>
                <a:schemeClr val="dk1"/>
              </a:solidFill>
            </a:endParaRPr>
          </a:p>
          <a:p>
            <a:pPr indent="-298450" lvl="0" marL="457200" rtl="0" algn="l">
              <a:lnSpc>
                <a:spcPct val="143181"/>
              </a:lnSpc>
              <a:spcBef>
                <a:spcPts val="0"/>
              </a:spcBef>
              <a:spcAft>
                <a:spcPts val="0"/>
              </a:spcAft>
              <a:buClr>
                <a:schemeClr val="dk1"/>
              </a:buClr>
              <a:buSzPts val="1100"/>
              <a:buAutoNum type="arabicParenR"/>
            </a:pPr>
            <a:r>
              <a:rPr lang="ru" sz="1100">
                <a:solidFill>
                  <a:schemeClr val="dk1"/>
                </a:solidFill>
              </a:rPr>
              <a:t>Add a labeled legend for clarity.</a:t>
            </a:r>
            <a:br>
              <a:rPr lang="ru" sz="1100">
                <a:solidFill>
                  <a:schemeClr val="dk1"/>
                </a:solidFill>
              </a:rPr>
            </a:br>
            <a:r>
              <a:rPr b="1" lang="ru" sz="1100">
                <a:solidFill>
                  <a:schemeClr val="dk1"/>
                </a:solidFill>
              </a:rPr>
              <a:t>Descriptive statistics</a:t>
            </a:r>
            <a:endParaRPr b="1" sz="1100">
              <a:solidFill>
                <a:schemeClr val="dk1"/>
              </a:solidFill>
            </a:endParaRPr>
          </a:p>
          <a:p>
            <a:pPr indent="-298450" lvl="0" marL="457200" rtl="0" algn="l">
              <a:lnSpc>
                <a:spcPct val="143181"/>
              </a:lnSpc>
              <a:spcBef>
                <a:spcPts val="0"/>
              </a:spcBef>
              <a:spcAft>
                <a:spcPts val="0"/>
              </a:spcAft>
              <a:buClr>
                <a:schemeClr val="dk1"/>
              </a:buClr>
              <a:buSzPts val="1100"/>
              <a:buAutoNum type="arabicParenR"/>
            </a:pPr>
            <a:r>
              <a:rPr lang="ru" sz="1100">
                <a:solidFill>
                  <a:schemeClr val="dk1"/>
                </a:solidFill>
              </a:rPr>
              <a:t>Add the code for the main descriptive statistics </a:t>
            </a:r>
            <a:r>
              <a:rPr lang="ru" sz="1100">
                <a:solidFill>
                  <a:schemeClr val="dk1"/>
                </a:solidFill>
              </a:rPr>
              <a:t>summaries</a:t>
            </a:r>
            <a:r>
              <a:rPr lang="ru" sz="1100">
                <a:solidFill>
                  <a:schemeClr val="dk1"/>
                </a:solidFill>
              </a:rPr>
              <a:t> and calculate correlation between flipper length and body mass.</a:t>
            </a:r>
            <a:br>
              <a:rPr lang="ru" sz="1100">
                <a:solidFill>
                  <a:schemeClr val="dk1"/>
                </a:solidFill>
              </a:rPr>
            </a:br>
            <a:r>
              <a:rPr b="1" lang="ru" sz="1100">
                <a:solidFill>
                  <a:schemeClr val="dk1"/>
                </a:solidFill>
              </a:rPr>
              <a:t>Test Hypothesis</a:t>
            </a:r>
            <a:endParaRPr b="1" sz="1100">
              <a:solidFill>
                <a:schemeClr val="dk1"/>
              </a:solidFill>
            </a:endParaRPr>
          </a:p>
          <a:p>
            <a:pPr indent="-298450" lvl="0" marL="457200" rtl="0" algn="l">
              <a:lnSpc>
                <a:spcPct val="143181"/>
              </a:lnSpc>
              <a:spcBef>
                <a:spcPts val="0"/>
              </a:spcBef>
              <a:spcAft>
                <a:spcPts val="0"/>
              </a:spcAft>
              <a:buClr>
                <a:schemeClr val="dk1"/>
              </a:buClr>
              <a:buSzPts val="1100"/>
              <a:buAutoNum type="arabicParenR"/>
            </a:pPr>
            <a:r>
              <a:rPr lang="ru" sz="1100">
                <a:solidFill>
                  <a:schemeClr val="dk1"/>
                </a:solidFill>
              </a:rPr>
              <a:t>H1: </a:t>
            </a:r>
            <a:r>
              <a:rPr lang="ru" sz="1100">
                <a:solidFill>
                  <a:schemeClr val="dk1"/>
                </a:solidFill>
              </a:rPr>
              <a:t>Chinstrap penguins are significantly larger than Adelie penguins.</a:t>
            </a:r>
            <a:br>
              <a:rPr lang="ru" sz="1100">
                <a:solidFill>
                  <a:schemeClr val="dk1"/>
                </a:solidFill>
              </a:rPr>
            </a:br>
            <a:endParaRPr sz="1100">
              <a:solidFill>
                <a:schemeClr val="dk1"/>
              </a:solidFill>
            </a:endParaRPr>
          </a:p>
          <a:p>
            <a:pPr indent="0" lvl="0" marL="0" rtl="0" algn="l">
              <a:lnSpc>
                <a:spcPct val="143181"/>
              </a:lnSpc>
              <a:spcBef>
                <a:spcPts val="700"/>
              </a:spcBef>
              <a:spcAft>
                <a:spcPts val="700"/>
              </a:spcAft>
              <a:buNone/>
            </a:pPr>
            <a:r>
              <a:rPr lang="ru" sz="1100">
                <a:solidFill>
                  <a:schemeClr val="dk1"/>
                </a:solidFill>
              </a:rPr>
              <a:t>*Send the Name_HW1.mlx or Name_HW1.m files to </a:t>
            </a:r>
            <a:r>
              <a:rPr lang="ru" sz="1100" u="sng">
                <a:solidFill>
                  <a:schemeClr val="hlink"/>
                </a:solidFill>
                <a:hlinkClick r:id="rId3"/>
              </a:rPr>
              <a:t>elizavetar@campus.technion.ac.il</a:t>
            </a:r>
            <a:r>
              <a:rPr lang="ru" sz="1100">
                <a:solidFill>
                  <a:schemeClr val="dk1"/>
                </a:solidFill>
              </a:rPr>
              <a:t> before 19/04/25</a:t>
            </a:r>
            <a:endParaRPr sz="1100">
              <a:solidFill>
                <a:schemeClr val="dk1"/>
              </a:solidFill>
            </a:endParaRPr>
          </a:p>
        </p:txBody>
      </p:sp>
      <p:pic>
        <p:nvPicPr>
          <p:cNvPr id="353" name="Google Shape;353;p44"/>
          <p:cNvPicPr preferRelativeResize="0"/>
          <p:nvPr/>
        </p:nvPicPr>
        <p:blipFill>
          <a:blip r:embed="rId4">
            <a:alphaModFix/>
          </a:blip>
          <a:stretch>
            <a:fillRect/>
          </a:stretch>
        </p:blipFill>
        <p:spPr>
          <a:xfrm>
            <a:off x="8705850" y="0"/>
            <a:ext cx="438150" cy="390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